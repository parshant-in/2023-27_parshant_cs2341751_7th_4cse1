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Exo 2" charset="1" panose="00000000000000000000"/>
      <p:regular r:id="rId17"/>
    </p:embeddedFont>
    <p:embeddedFont>
      <p:font typeface="Arimo" charset="1" panose="020B0604020202020204"/>
      <p:regular r:id="rId18"/>
    </p:embeddedFont>
    <p:embeddedFont>
      <p:font typeface="Michroma" charset="1" panose="000000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notesSlides/notesSlide4.xml" Type="http://schemas.openxmlformats.org/officeDocument/2006/relationships/notesSlide"/><Relationship Id="rId22" Target="notesSlides/notesSlide5.xml" Type="http://schemas.openxmlformats.org/officeDocument/2006/relationships/notesSlide"/><Relationship Id="rId23" Target="notesSlides/notesSlide6.xml" Type="http://schemas.openxmlformats.org/officeDocument/2006/relationships/notesSlide"/><Relationship Id="rId24" Target="notesSlides/notesSlide7.xml" Type="http://schemas.openxmlformats.org/officeDocument/2006/relationships/notesSlide"/><Relationship Id="rId25" Target="notesSlides/notesSlide8.xml" Type="http://schemas.openxmlformats.org/officeDocument/2006/relationships/notesSlide"/><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Introduce Student Query Manager V2 as an AI-powered, RAG-based academic query resolution system. This presentation covers the platform, architecture, workflows, implementation checks, limitations, and next engineering priorities.</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system brings three responsibilities into one platform. Students use it to ask and track questions, faculty manage assigned academic queries, and administrators maintain the documents that support grounded answers.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system addresses both operational friction and information fragmentation. Centralized query management handles the workflow, while semantic search and grounded generation make uploaded academic documents easier to use.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stack is intentionally focused. React and Vite support the product interface, FastAPI provides the API layer, the AI and RAG layer handles semantic retrieval and generation, document utilities prepare source material, and testing checks the implementation.</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There are two connected paths. The academic query workflow handles direct questions and responses. The RAG workflow prepares documents, retrieves relevant context, checks relevance, and calls Gemini only when context is available. JWT authentication and role-based authorization protect operations throughout.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Each role has a distinct responsibility. JWT authentication, role-based authorization, and category-based faculty assignment connect the lanes without collapsing them into one workflow.</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Document ingestion turns supported files into searchable vectors and metadata. At question time, the system embeds the student question, retrieves relevant chunks, checks relevance, and uses Gemini to generate an answer with available source information.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by reinforcing the foundation: query management, role-based access, document retrieval, Gemini-based generation, and source metadata. The next priorities are persistence, evaluation, and deployment readiness.</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7.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6.jpeg" Type="http://schemas.openxmlformats.org/officeDocument/2006/relationships/image"/><Relationship Id="rId4" Target="../media/image17.png" Type="http://schemas.openxmlformats.org/officeDocument/2006/relationships/image"/><Relationship Id="rId5" Target="https://gamma.app/?utm_source=made-with-gamma" TargetMode="External" Type="http://schemas.openxmlformats.org/officeDocument/2006/relationships/hyperlink"/><Relationship Id="rId6" Target="../media/image1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4"/>
              <a:stretch>
                <a:fillRect l="-1" t="0" r="-1" b="0"/>
              </a:stretch>
            </a:blipFill>
          </p:spPr>
        </p:sp>
      </p:grpSp>
      <p:sp>
        <p:nvSpPr>
          <p:cNvPr name="TextBox 6" id="6"/>
          <p:cNvSpPr txBox="true"/>
          <p:nvPr/>
        </p:nvSpPr>
        <p:spPr>
          <a:xfrm rot="0">
            <a:off x="424634" y="1237888"/>
            <a:ext cx="9389231" cy="1718882"/>
          </a:xfrm>
          <a:prstGeom prst="rect">
            <a:avLst/>
          </a:prstGeom>
        </p:spPr>
        <p:txBody>
          <a:bodyPr anchor="t" rtlCol="false" tIns="0" lIns="0" bIns="0" rIns="0">
            <a:spAutoFit/>
          </a:bodyPr>
          <a:lstStyle/>
          <a:p>
            <a:pPr algn="l">
              <a:lnSpc>
                <a:spcPts val="7054"/>
              </a:lnSpc>
            </a:pPr>
            <a:r>
              <a:rPr lang="en-US" sz="6605" spc="-79">
                <a:solidFill>
                  <a:srgbClr val="FFFFFF"/>
                </a:solidFill>
                <a:latin typeface="Exo 2"/>
                <a:ea typeface="Exo 2"/>
                <a:cs typeface="Exo 2"/>
                <a:sym typeface="Exo 2"/>
              </a:rPr>
              <a:t>Student Query</a:t>
            </a:r>
          </a:p>
          <a:p>
            <a:pPr algn="l">
              <a:lnSpc>
                <a:spcPts val="7054"/>
              </a:lnSpc>
            </a:pPr>
            <a:r>
              <a:rPr lang="en-US" sz="6605" spc="-79">
                <a:solidFill>
                  <a:srgbClr val="FFFFFF"/>
                </a:solidFill>
                <a:latin typeface="Exo 2"/>
                <a:ea typeface="Exo 2"/>
                <a:cs typeface="Exo 2"/>
                <a:sym typeface="Exo 2"/>
              </a:rPr>
              <a:t>Manager</a:t>
            </a:r>
          </a:p>
        </p:txBody>
      </p:sp>
      <p:sp>
        <p:nvSpPr>
          <p:cNvPr name="TextBox 7" id="7"/>
          <p:cNvSpPr txBox="true"/>
          <p:nvPr/>
        </p:nvSpPr>
        <p:spPr>
          <a:xfrm rot="0">
            <a:off x="424634" y="3125991"/>
            <a:ext cx="9389231" cy="994324"/>
          </a:xfrm>
          <a:prstGeom prst="rect">
            <a:avLst/>
          </a:prstGeom>
        </p:spPr>
        <p:txBody>
          <a:bodyPr anchor="t" rtlCol="false" tIns="0" lIns="0" bIns="0" rIns="0">
            <a:spAutoFit/>
          </a:bodyPr>
          <a:lstStyle/>
          <a:p>
            <a:pPr algn="l">
              <a:lnSpc>
                <a:spcPts val="3764"/>
              </a:lnSpc>
            </a:pPr>
            <a:r>
              <a:rPr lang="en-US" sz="2852">
                <a:solidFill>
                  <a:srgbClr val="FFFFFF"/>
                </a:solidFill>
                <a:latin typeface="Exo 2"/>
                <a:ea typeface="Exo 2"/>
                <a:cs typeface="Exo 2"/>
                <a:sym typeface="Exo 2"/>
              </a:rPr>
              <a:t>An AI-Powered RAG-Based Academic Query Resolution System</a:t>
            </a:r>
          </a:p>
        </p:txBody>
      </p:sp>
      <p:sp>
        <p:nvSpPr>
          <p:cNvPr name="TextBox 8" id="8"/>
          <p:cNvSpPr txBox="true"/>
          <p:nvPr/>
        </p:nvSpPr>
        <p:spPr>
          <a:xfrm rot="0">
            <a:off x="424634" y="4298032"/>
            <a:ext cx="4694615"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PRESENTED BY</a:t>
            </a:r>
          </a:p>
        </p:txBody>
      </p:sp>
      <p:sp>
        <p:nvSpPr>
          <p:cNvPr name="TextBox 9" id="9"/>
          <p:cNvSpPr txBox="true"/>
          <p:nvPr/>
        </p:nvSpPr>
        <p:spPr>
          <a:xfrm rot="0">
            <a:off x="424634" y="4738849"/>
            <a:ext cx="4694615" cy="403460"/>
          </a:xfrm>
          <a:prstGeom prst="rect">
            <a:avLst/>
          </a:prstGeom>
        </p:spPr>
        <p:txBody>
          <a:bodyPr anchor="t" rtlCol="false" tIns="0" lIns="0" bIns="0" rIns="0">
            <a:spAutoFit/>
          </a:bodyPr>
          <a:lstStyle/>
          <a:p>
            <a:pPr algn="l">
              <a:lnSpc>
                <a:spcPts val="2869"/>
              </a:lnSpc>
            </a:pPr>
            <a:r>
              <a:rPr lang="en-US" sz="2026">
                <a:solidFill>
                  <a:srgbClr val="FFFFFF"/>
                </a:solidFill>
                <a:latin typeface="Exo 2"/>
                <a:ea typeface="Exo 2"/>
                <a:cs typeface="Exo 2"/>
                <a:sym typeface="Exo 2"/>
              </a:rPr>
              <a:t>Parshant</a:t>
            </a:r>
          </a:p>
        </p:txBody>
      </p:sp>
      <p:sp>
        <p:nvSpPr>
          <p:cNvPr name="TextBox 10" id="10"/>
          <p:cNvSpPr txBox="true"/>
          <p:nvPr/>
        </p:nvSpPr>
        <p:spPr>
          <a:xfrm rot="0">
            <a:off x="5424278" y="4298032"/>
            <a:ext cx="4389587"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COURSE AND DEPARTMENT</a:t>
            </a:r>
          </a:p>
        </p:txBody>
      </p:sp>
      <p:sp>
        <p:nvSpPr>
          <p:cNvPr name="TextBox 11" id="11"/>
          <p:cNvSpPr txBox="true"/>
          <p:nvPr/>
        </p:nvSpPr>
        <p:spPr>
          <a:xfrm rot="0">
            <a:off x="5424278" y="4738849"/>
            <a:ext cx="4389587" cy="403460"/>
          </a:xfrm>
          <a:prstGeom prst="rect">
            <a:avLst/>
          </a:prstGeom>
        </p:spPr>
        <p:txBody>
          <a:bodyPr anchor="t" rtlCol="false" tIns="0" lIns="0" bIns="0" rIns="0">
            <a:spAutoFit/>
          </a:bodyPr>
          <a:lstStyle/>
          <a:p>
            <a:pPr algn="l">
              <a:lnSpc>
                <a:spcPts val="2869"/>
              </a:lnSpc>
            </a:pPr>
            <a:r>
              <a:rPr lang="en-US" sz="2026">
                <a:solidFill>
                  <a:srgbClr val="FFFFFF"/>
                </a:solidFill>
                <a:latin typeface="Exo 2"/>
                <a:ea typeface="Exo 2"/>
                <a:cs typeface="Exo 2"/>
                <a:sym typeface="Exo 2"/>
              </a:rPr>
              <a:t> B Tech CSE(AIML)</a:t>
            </a:r>
          </a:p>
        </p:txBody>
      </p:sp>
      <p:sp>
        <p:nvSpPr>
          <p:cNvPr name="TextBox 12" id="12"/>
          <p:cNvSpPr txBox="true"/>
          <p:nvPr/>
        </p:nvSpPr>
        <p:spPr>
          <a:xfrm rot="0">
            <a:off x="424634" y="5717619"/>
            <a:ext cx="4694615"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SECTION</a:t>
            </a:r>
          </a:p>
        </p:txBody>
      </p:sp>
      <p:sp>
        <p:nvSpPr>
          <p:cNvPr name="TextBox 13" id="13"/>
          <p:cNvSpPr txBox="true"/>
          <p:nvPr/>
        </p:nvSpPr>
        <p:spPr>
          <a:xfrm rot="0">
            <a:off x="424634" y="6158436"/>
            <a:ext cx="4694615" cy="403460"/>
          </a:xfrm>
          <a:prstGeom prst="rect">
            <a:avLst/>
          </a:prstGeom>
        </p:spPr>
        <p:txBody>
          <a:bodyPr anchor="t" rtlCol="false" tIns="0" lIns="0" bIns="0" rIns="0">
            <a:spAutoFit/>
          </a:bodyPr>
          <a:lstStyle/>
          <a:p>
            <a:pPr algn="l">
              <a:lnSpc>
                <a:spcPts val="2869"/>
              </a:lnSpc>
            </a:pPr>
            <a:r>
              <a:rPr lang="en-US" sz="2026">
                <a:solidFill>
                  <a:srgbClr val="FFFFFF"/>
                </a:solidFill>
                <a:latin typeface="Exo 2"/>
                <a:ea typeface="Exo 2"/>
                <a:cs typeface="Exo 2"/>
                <a:sym typeface="Exo 2"/>
              </a:rPr>
              <a:t>4CSE1</a:t>
            </a:r>
          </a:p>
        </p:txBody>
      </p:sp>
      <p:sp>
        <p:nvSpPr>
          <p:cNvPr name="TextBox 14" id="14"/>
          <p:cNvSpPr txBox="true"/>
          <p:nvPr/>
        </p:nvSpPr>
        <p:spPr>
          <a:xfrm rot="0">
            <a:off x="5424278" y="5717619"/>
            <a:ext cx="4389587"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ROLL NO.</a:t>
            </a:r>
          </a:p>
        </p:txBody>
      </p:sp>
      <p:sp>
        <p:nvSpPr>
          <p:cNvPr name="TextBox 15" id="15"/>
          <p:cNvSpPr txBox="true"/>
          <p:nvPr/>
        </p:nvSpPr>
        <p:spPr>
          <a:xfrm rot="0">
            <a:off x="5424278" y="6158436"/>
            <a:ext cx="4389587" cy="403460"/>
          </a:xfrm>
          <a:prstGeom prst="rect">
            <a:avLst/>
          </a:prstGeom>
        </p:spPr>
        <p:txBody>
          <a:bodyPr anchor="t" rtlCol="false" tIns="0" lIns="0" bIns="0" rIns="0">
            <a:spAutoFit/>
          </a:bodyPr>
          <a:lstStyle/>
          <a:p>
            <a:pPr algn="l">
              <a:lnSpc>
                <a:spcPts val="2869"/>
              </a:lnSpc>
            </a:pPr>
            <a:r>
              <a:rPr lang="en-US" sz="2026">
                <a:solidFill>
                  <a:srgbClr val="FFFFFF"/>
                </a:solidFill>
                <a:latin typeface="Exo 2"/>
                <a:ea typeface="Exo 2"/>
                <a:cs typeface="Exo 2"/>
                <a:sym typeface="Exo 2"/>
              </a:rPr>
              <a:t>CS-2341751</a:t>
            </a:r>
          </a:p>
        </p:txBody>
      </p:sp>
      <p:sp>
        <p:nvSpPr>
          <p:cNvPr name="TextBox 16" id="16"/>
          <p:cNvSpPr txBox="true"/>
          <p:nvPr/>
        </p:nvSpPr>
        <p:spPr>
          <a:xfrm rot="0">
            <a:off x="424634" y="7137216"/>
            <a:ext cx="9389231"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INSTITUTE</a:t>
            </a:r>
          </a:p>
        </p:txBody>
      </p:sp>
      <p:sp>
        <p:nvSpPr>
          <p:cNvPr name="TextBox 17" id="17"/>
          <p:cNvSpPr txBox="true"/>
          <p:nvPr/>
        </p:nvSpPr>
        <p:spPr>
          <a:xfrm rot="0">
            <a:off x="424634" y="7578033"/>
            <a:ext cx="9389231" cy="403460"/>
          </a:xfrm>
          <a:prstGeom prst="rect">
            <a:avLst/>
          </a:prstGeom>
        </p:spPr>
        <p:txBody>
          <a:bodyPr anchor="t" rtlCol="false" tIns="0" lIns="0" bIns="0" rIns="0">
            <a:spAutoFit/>
          </a:bodyPr>
          <a:lstStyle/>
          <a:p>
            <a:pPr algn="l">
              <a:lnSpc>
                <a:spcPts val="2869"/>
              </a:lnSpc>
            </a:pPr>
            <a:r>
              <a:rPr lang="en-US" sz="2026">
                <a:solidFill>
                  <a:srgbClr val="FFFFFF"/>
                </a:solidFill>
                <a:latin typeface="Exo 2"/>
                <a:ea typeface="Exo 2"/>
                <a:cs typeface="Exo 2"/>
                <a:sym typeface="Exo 2"/>
              </a:rPr>
              <a:t>IILM University , Greater Noida</a:t>
            </a:r>
          </a:p>
        </p:txBody>
      </p:sp>
      <p:grpSp>
        <p:nvGrpSpPr>
          <p:cNvPr name="Group 18" id="18"/>
          <p:cNvGrpSpPr/>
          <p:nvPr/>
        </p:nvGrpSpPr>
        <p:grpSpPr>
          <a:xfrm rot="0">
            <a:off x="5109715" y="4332799"/>
            <a:ext cx="19069" cy="1114549"/>
            <a:chOff x="0" y="0"/>
            <a:chExt cx="25425" cy="1486065"/>
          </a:xfrm>
        </p:grpSpPr>
        <p:sp>
          <p:nvSpPr>
            <p:cNvPr name="Freeform 19" id="19"/>
            <p:cNvSpPr/>
            <p:nvPr/>
          </p:nvSpPr>
          <p:spPr>
            <a:xfrm flipH="false" flipV="false" rot="0">
              <a:off x="0" y="0"/>
              <a:ext cx="25400" cy="1486027"/>
            </a:xfrm>
            <a:custGeom>
              <a:avLst/>
              <a:gdLst/>
              <a:ahLst/>
              <a:cxnLst/>
              <a:rect r="r" b="b" t="t" l="l"/>
              <a:pathLst>
                <a:path h="1486027" w="25400">
                  <a:moveTo>
                    <a:pt x="0" y="0"/>
                  </a:moveTo>
                  <a:lnTo>
                    <a:pt x="25400" y="0"/>
                  </a:lnTo>
                  <a:lnTo>
                    <a:pt x="25400" y="1486027"/>
                  </a:lnTo>
                  <a:lnTo>
                    <a:pt x="0" y="1486027"/>
                  </a:lnTo>
                  <a:close/>
                </a:path>
              </a:pathLst>
            </a:custGeom>
            <a:solidFill>
              <a:srgbClr val="3F3F3F"/>
            </a:solidFill>
          </p:spPr>
        </p:sp>
      </p:grpSp>
      <p:grpSp>
        <p:nvGrpSpPr>
          <p:cNvPr name="Group 20" id="20"/>
          <p:cNvGrpSpPr/>
          <p:nvPr/>
        </p:nvGrpSpPr>
        <p:grpSpPr>
          <a:xfrm rot="0">
            <a:off x="424634" y="5437813"/>
            <a:ext cx="4694615" cy="19069"/>
            <a:chOff x="0" y="0"/>
            <a:chExt cx="6259487" cy="25425"/>
          </a:xfrm>
        </p:grpSpPr>
        <p:sp>
          <p:nvSpPr>
            <p:cNvPr name="Freeform 21" id="21"/>
            <p:cNvSpPr/>
            <p:nvPr/>
          </p:nvSpPr>
          <p:spPr>
            <a:xfrm flipH="false" flipV="false" rot="0">
              <a:off x="0" y="0"/>
              <a:ext cx="6259449" cy="25400"/>
            </a:xfrm>
            <a:custGeom>
              <a:avLst/>
              <a:gdLst/>
              <a:ahLst/>
              <a:cxnLst/>
              <a:rect r="r" b="b" t="t" l="l"/>
              <a:pathLst>
                <a:path h="25400" w="6259449">
                  <a:moveTo>
                    <a:pt x="0" y="0"/>
                  </a:moveTo>
                  <a:lnTo>
                    <a:pt x="6259449" y="0"/>
                  </a:lnTo>
                  <a:lnTo>
                    <a:pt x="6259449" y="25400"/>
                  </a:lnTo>
                  <a:lnTo>
                    <a:pt x="0" y="25400"/>
                  </a:lnTo>
                  <a:close/>
                </a:path>
              </a:pathLst>
            </a:custGeom>
            <a:solidFill>
              <a:srgbClr val="3F3F3F"/>
            </a:solidFill>
          </p:spPr>
        </p:sp>
      </p:grpSp>
      <p:grpSp>
        <p:nvGrpSpPr>
          <p:cNvPr name="Group 22" id="22"/>
          <p:cNvGrpSpPr/>
          <p:nvPr/>
        </p:nvGrpSpPr>
        <p:grpSpPr>
          <a:xfrm rot="0">
            <a:off x="5109715" y="5447347"/>
            <a:ext cx="19069" cy="1419587"/>
            <a:chOff x="0" y="0"/>
            <a:chExt cx="25425" cy="1892783"/>
          </a:xfrm>
        </p:grpSpPr>
        <p:sp>
          <p:nvSpPr>
            <p:cNvPr name="Freeform 23" id="23"/>
            <p:cNvSpPr/>
            <p:nvPr/>
          </p:nvSpPr>
          <p:spPr>
            <a:xfrm flipH="false" flipV="false" rot="0">
              <a:off x="0" y="0"/>
              <a:ext cx="25400" cy="1892808"/>
            </a:xfrm>
            <a:custGeom>
              <a:avLst/>
              <a:gdLst/>
              <a:ahLst/>
              <a:cxnLst/>
              <a:rect r="r" b="b" t="t" l="l"/>
              <a:pathLst>
                <a:path h="1892808" w="25400">
                  <a:moveTo>
                    <a:pt x="0" y="0"/>
                  </a:moveTo>
                  <a:lnTo>
                    <a:pt x="25400" y="0"/>
                  </a:lnTo>
                  <a:lnTo>
                    <a:pt x="25400" y="1892808"/>
                  </a:lnTo>
                  <a:lnTo>
                    <a:pt x="0" y="1892808"/>
                  </a:lnTo>
                  <a:close/>
                </a:path>
              </a:pathLst>
            </a:custGeom>
            <a:solidFill>
              <a:srgbClr val="3F3F3F"/>
            </a:solidFill>
          </p:spPr>
        </p:sp>
      </p:grpSp>
      <p:grpSp>
        <p:nvGrpSpPr>
          <p:cNvPr name="Group 24" id="24"/>
          <p:cNvGrpSpPr/>
          <p:nvPr/>
        </p:nvGrpSpPr>
        <p:grpSpPr>
          <a:xfrm rot="0">
            <a:off x="5119240" y="5437813"/>
            <a:ext cx="4694615" cy="19069"/>
            <a:chOff x="0" y="0"/>
            <a:chExt cx="6259487" cy="25425"/>
          </a:xfrm>
        </p:grpSpPr>
        <p:sp>
          <p:nvSpPr>
            <p:cNvPr name="Freeform 25" id="25"/>
            <p:cNvSpPr/>
            <p:nvPr/>
          </p:nvSpPr>
          <p:spPr>
            <a:xfrm flipH="false" flipV="false" rot="0">
              <a:off x="0" y="0"/>
              <a:ext cx="6259449" cy="25400"/>
            </a:xfrm>
            <a:custGeom>
              <a:avLst/>
              <a:gdLst/>
              <a:ahLst/>
              <a:cxnLst/>
              <a:rect r="r" b="b" t="t" l="l"/>
              <a:pathLst>
                <a:path h="25400" w="6259449">
                  <a:moveTo>
                    <a:pt x="0" y="0"/>
                  </a:moveTo>
                  <a:lnTo>
                    <a:pt x="6259449" y="0"/>
                  </a:lnTo>
                  <a:lnTo>
                    <a:pt x="6259449" y="25400"/>
                  </a:lnTo>
                  <a:lnTo>
                    <a:pt x="0" y="25400"/>
                  </a:lnTo>
                  <a:close/>
                </a:path>
              </a:pathLst>
            </a:custGeom>
            <a:solidFill>
              <a:srgbClr val="3F3F3F"/>
            </a:solidFill>
          </p:spPr>
        </p:sp>
      </p:grpSp>
      <p:grpSp>
        <p:nvGrpSpPr>
          <p:cNvPr name="Group 26" id="26"/>
          <p:cNvGrpSpPr/>
          <p:nvPr/>
        </p:nvGrpSpPr>
        <p:grpSpPr>
          <a:xfrm rot="0">
            <a:off x="424634" y="6857400"/>
            <a:ext cx="9389231" cy="19069"/>
            <a:chOff x="0" y="0"/>
            <a:chExt cx="12518974" cy="25425"/>
          </a:xfrm>
        </p:grpSpPr>
        <p:sp>
          <p:nvSpPr>
            <p:cNvPr name="Freeform 27" id="27"/>
            <p:cNvSpPr/>
            <p:nvPr/>
          </p:nvSpPr>
          <p:spPr>
            <a:xfrm flipH="false" flipV="false" rot="0">
              <a:off x="0" y="0"/>
              <a:ext cx="12519025" cy="25400"/>
            </a:xfrm>
            <a:custGeom>
              <a:avLst/>
              <a:gdLst/>
              <a:ahLst/>
              <a:cxnLst/>
              <a:rect r="r" b="b" t="t" l="l"/>
              <a:pathLst>
                <a:path h="25400" w="12519025">
                  <a:moveTo>
                    <a:pt x="0" y="0"/>
                  </a:moveTo>
                  <a:lnTo>
                    <a:pt x="12519025" y="0"/>
                  </a:lnTo>
                  <a:lnTo>
                    <a:pt x="12519025" y="25400"/>
                  </a:lnTo>
                  <a:lnTo>
                    <a:pt x="0" y="25400"/>
                  </a:lnTo>
                  <a:close/>
                </a:path>
              </a:pathLst>
            </a:custGeom>
            <a:solidFill>
              <a:srgbClr val="3F3F3F"/>
            </a:solid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915095" y="890359"/>
            <a:ext cx="6131147" cy="270605"/>
          </a:xfrm>
          <a:prstGeom prst="rect">
            <a:avLst/>
          </a:prstGeom>
        </p:spPr>
        <p:txBody>
          <a:bodyPr anchor="t" rtlCol="false" tIns="0" lIns="0" bIns="0" rIns="0">
            <a:spAutoFit/>
          </a:bodyPr>
          <a:lstStyle/>
          <a:p>
            <a:pPr algn="l">
              <a:lnSpc>
                <a:spcPts val="1945"/>
              </a:lnSpc>
            </a:pPr>
            <a:r>
              <a:rPr lang="en-US" sz="1501" spc="124">
                <a:solidFill>
                  <a:srgbClr val="B5B5B5"/>
                </a:solidFill>
                <a:latin typeface="Arimo"/>
                <a:ea typeface="Arimo"/>
                <a:cs typeface="Arimo"/>
                <a:sym typeface="Arimo"/>
              </a:rPr>
              <a:t>SYSTEM OVERVIEW</a:t>
            </a:r>
          </a:p>
        </p:txBody>
      </p:sp>
      <p:sp>
        <p:nvSpPr>
          <p:cNvPr name="TextBox 3" id="3"/>
          <p:cNvSpPr txBox="true"/>
          <p:nvPr/>
        </p:nvSpPr>
        <p:spPr>
          <a:xfrm rot="0">
            <a:off x="915095" y="1368609"/>
            <a:ext cx="5216052" cy="4716228"/>
          </a:xfrm>
          <a:prstGeom prst="rect">
            <a:avLst/>
          </a:prstGeom>
        </p:spPr>
        <p:txBody>
          <a:bodyPr anchor="t" rtlCol="false" tIns="0" lIns="0" bIns="0" rIns="0">
            <a:spAutoFit/>
          </a:bodyPr>
          <a:lstStyle/>
          <a:p>
            <a:pPr algn="l">
              <a:lnSpc>
                <a:spcPts val="6252"/>
              </a:lnSpc>
            </a:pPr>
            <a:r>
              <a:rPr lang="en-US" sz="5854" spc="-70">
                <a:solidFill>
                  <a:srgbClr val="ECECEC"/>
                </a:solidFill>
                <a:latin typeface="Exo 2"/>
                <a:ea typeface="Exo 2"/>
                <a:cs typeface="Exo 2"/>
                <a:sym typeface="Exo 2"/>
              </a:rPr>
              <a:t>One platform for academic queries and document-grounded answers</a:t>
            </a:r>
          </a:p>
        </p:txBody>
      </p:sp>
      <p:grpSp>
        <p:nvGrpSpPr>
          <p:cNvPr name="Group 4" id="4"/>
          <p:cNvGrpSpPr/>
          <p:nvPr/>
        </p:nvGrpSpPr>
        <p:grpSpPr>
          <a:xfrm rot="0">
            <a:off x="915095" y="6330286"/>
            <a:ext cx="1303830" cy="28594"/>
            <a:chOff x="0" y="0"/>
            <a:chExt cx="1738440" cy="38125"/>
          </a:xfrm>
        </p:grpSpPr>
        <p:sp>
          <p:nvSpPr>
            <p:cNvPr name="Freeform 5" id="5"/>
            <p:cNvSpPr/>
            <p:nvPr/>
          </p:nvSpPr>
          <p:spPr>
            <a:xfrm flipH="false" flipV="false" rot="0">
              <a:off x="0" y="0"/>
              <a:ext cx="1738376" cy="38100"/>
            </a:xfrm>
            <a:custGeom>
              <a:avLst/>
              <a:gdLst/>
              <a:ahLst/>
              <a:cxnLst/>
              <a:rect r="r" b="b" t="t" l="l"/>
              <a:pathLst>
                <a:path h="38100" w="1738376">
                  <a:moveTo>
                    <a:pt x="0" y="19050"/>
                  </a:moveTo>
                  <a:cubicBezTo>
                    <a:pt x="0" y="8509"/>
                    <a:pt x="8509" y="0"/>
                    <a:pt x="19050" y="0"/>
                  </a:cubicBezTo>
                  <a:lnTo>
                    <a:pt x="1719326" y="0"/>
                  </a:lnTo>
                  <a:cubicBezTo>
                    <a:pt x="1729867" y="0"/>
                    <a:pt x="1738376" y="8509"/>
                    <a:pt x="1738376" y="19050"/>
                  </a:cubicBezTo>
                  <a:cubicBezTo>
                    <a:pt x="1738376" y="29591"/>
                    <a:pt x="1729867" y="38100"/>
                    <a:pt x="1719326" y="38100"/>
                  </a:cubicBezTo>
                  <a:lnTo>
                    <a:pt x="19050" y="38100"/>
                  </a:lnTo>
                  <a:cubicBezTo>
                    <a:pt x="8509" y="38100"/>
                    <a:pt x="0" y="29591"/>
                    <a:pt x="0" y="19050"/>
                  </a:cubicBezTo>
                  <a:close/>
                </a:path>
              </a:pathLst>
            </a:custGeom>
            <a:solidFill>
              <a:srgbClr val="9BE1FF"/>
            </a:solidFill>
          </p:spPr>
        </p:sp>
      </p:grpSp>
      <p:sp>
        <p:nvSpPr>
          <p:cNvPr name="TextBox 6" id="6"/>
          <p:cNvSpPr txBox="true"/>
          <p:nvPr/>
        </p:nvSpPr>
        <p:spPr>
          <a:xfrm rot="0">
            <a:off x="915095" y="6594691"/>
            <a:ext cx="5216052" cy="1194949"/>
          </a:xfrm>
          <a:prstGeom prst="rect">
            <a:avLst/>
          </a:prstGeom>
        </p:spPr>
        <p:txBody>
          <a:bodyPr anchor="t" rtlCol="false" tIns="0" lIns="0" bIns="0" rIns="0">
            <a:spAutoFit/>
          </a:bodyPr>
          <a:lstStyle/>
          <a:p>
            <a:pPr algn="l">
              <a:lnSpc>
                <a:spcPts val="3026"/>
              </a:lnSpc>
            </a:pPr>
            <a:r>
              <a:rPr lang="en-US" sz="2251">
                <a:solidFill>
                  <a:srgbClr val="D5D5D5"/>
                </a:solidFill>
                <a:latin typeface="Exo 2"/>
                <a:ea typeface="Exo 2"/>
                <a:cs typeface="Exo 2"/>
                <a:sym typeface="Exo 2"/>
              </a:rPr>
              <a:t>A web-based platform for managing academic queries and connecting users to uploaded academic knowledge.</a:t>
            </a:r>
          </a:p>
        </p:txBody>
      </p:sp>
      <p:sp>
        <p:nvSpPr>
          <p:cNvPr name="TextBox 7" id="7"/>
          <p:cNvSpPr txBox="true"/>
          <p:nvPr/>
        </p:nvSpPr>
        <p:spPr>
          <a:xfrm rot="0">
            <a:off x="915095" y="7962005"/>
            <a:ext cx="5216052" cy="2153860"/>
          </a:xfrm>
          <a:prstGeom prst="rect">
            <a:avLst/>
          </a:prstGeom>
        </p:spPr>
        <p:txBody>
          <a:bodyPr anchor="t" rtlCol="false" tIns="0" lIns="0" bIns="0" rIns="0">
            <a:spAutoFit/>
          </a:bodyPr>
          <a:lstStyle/>
          <a:p>
            <a:pPr algn="l">
              <a:lnSpc>
                <a:spcPts val="2521"/>
              </a:lnSpc>
            </a:pPr>
            <a:r>
              <a:rPr lang="en-US" sz="1876">
                <a:solidFill>
                  <a:srgbClr val="D5D5D5"/>
                </a:solidFill>
                <a:latin typeface="Exo 2"/>
                <a:ea typeface="Exo 2"/>
                <a:cs typeface="Exo 2"/>
                <a:sym typeface="Exo 2"/>
              </a:rPr>
              <a:t>Students submit queries, track status, and ask about uploaded academic documents. Faculty manage assigned queries and responses; administrators manage the document knowledge base.</a:t>
            </a:r>
          </a:p>
        </p:txBody>
      </p:sp>
      <p:grpSp>
        <p:nvGrpSpPr>
          <p:cNvPr name="Group 8" id="8"/>
          <p:cNvGrpSpPr/>
          <p:nvPr/>
        </p:nvGrpSpPr>
        <p:grpSpPr>
          <a:xfrm rot="0">
            <a:off x="8647500" y="2804331"/>
            <a:ext cx="8739245" cy="4686386"/>
            <a:chOff x="0" y="0"/>
            <a:chExt cx="11652326" cy="6248514"/>
          </a:xfrm>
        </p:grpSpPr>
        <p:sp>
          <p:nvSpPr>
            <p:cNvPr name="Freeform 9" id="9" descr="preencoded.png"/>
            <p:cNvSpPr/>
            <p:nvPr/>
          </p:nvSpPr>
          <p:spPr>
            <a:xfrm flipH="false" flipV="false" rot="0">
              <a:off x="0" y="0"/>
              <a:ext cx="11652377" cy="6248527"/>
            </a:xfrm>
            <a:custGeom>
              <a:avLst/>
              <a:gdLst/>
              <a:ahLst/>
              <a:cxnLst/>
              <a:rect r="r" b="b" t="t" l="l"/>
              <a:pathLst>
                <a:path h="6248527" w="11652377">
                  <a:moveTo>
                    <a:pt x="0" y="0"/>
                  </a:moveTo>
                  <a:lnTo>
                    <a:pt x="11652377" y="0"/>
                  </a:lnTo>
                  <a:lnTo>
                    <a:pt x="11652377" y="6248527"/>
                  </a:lnTo>
                  <a:lnTo>
                    <a:pt x="0" y="6248527"/>
                  </a:lnTo>
                  <a:lnTo>
                    <a:pt x="0" y="0"/>
                  </a:lnTo>
                  <a:close/>
                </a:path>
              </a:pathLst>
            </a:custGeom>
            <a:blipFill>
              <a:blip r:embed="rId3"/>
              <a:stretch>
                <a:fillRect l="-27" t="0" r="-27" b="0"/>
              </a:stretch>
            </a:blipFill>
          </p:spPr>
        </p:sp>
      </p:grpSp>
      <p:sp>
        <p:nvSpPr>
          <p:cNvPr name="TextBox 10" id="10"/>
          <p:cNvSpPr txBox="true"/>
          <p:nvPr/>
        </p:nvSpPr>
        <p:spPr>
          <a:xfrm rot="0">
            <a:off x="10988916" y="3191113"/>
            <a:ext cx="4038933" cy="264843"/>
          </a:xfrm>
          <a:prstGeom prst="rect">
            <a:avLst/>
          </a:prstGeom>
        </p:spPr>
        <p:txBody>
          <a:bodyPr anchor="t" rtlCol="false" tIns="0" lIns="0" bIns="0" rIns="0">
            <a:spAutoFit/>
          </a:bodyPr>
          <a:lstStyle/>
          <a:p>
            <a:pPr algn="ctr">
              <a:lnSpc>
                <a:spcPts val="1981"/>
              </a:lnSpc>
            </a:pPr>
            <a:r>
              <a:rPr lang="en-US" sz="1501">
                <a:solidFill>
                  <a:srgbClr val="204C8E"/>
                </a:solidFill>
                <a:latin typeface="Exo 2"/>
                <a:ea typeface="Exo 2"/>
                <a:cs typeface="Exo 2"/>
                <a:sym typeface="Exo 2"/>
              </a:rPr>
              <a:t>Student Query Manager </a:t>
            </a:r>
          </a:p>
        </p:txBody>
      </p:sp>
      <p:sp>
        <p:nvSpPr>
          <p:cNvPr name="TextBox 11" id="11"/>
          <p:cNvSpPr txBox="true"/>
          <p:nvPr/>
        </p:nvSpPr>
        <p:spPr>
          <a:xfrm rot="0">
            <a:off x="9092527" y="5818918"/>
            <a:ext cx="1967760" cy="264843"/>
          </a:xfrm>
          <a:prstGeom prst="rect">
            <a:avLst/>
          </a:prstGeom>
        </p:spPr>
        <p:txBody>
          <a:bodyPr anchor="t" rtlCol="false" tIns="0" lIns="0" bIns="0" rIns="0">
            <a:spAutoFit/>
          </a:bodyPr>
          <a:lstStyle/>
          <a:p>
            <a:pPr algn="ctr">
              <a:lnSpc>
                <a:spcPts val="1981"/>
              </a:lnSpc>
            </a:pPr>
            <a:r>
              <a:rPr lang="en-US" sz="1501">
                <a:solidFill>
                  <a:srgbClr val="D5D5D5"/>
                </a:solidFill>
                <a:latin typeface="Exo 2"/>
                <a:ea typeface="Exo 2"/>
                <a:cs typeface="Exo 2"/>
                <a:sym typeface="Exo 2"/>
              </a:rPr>
              <a:t>Student</a:t>
            </a:r>
          </a:p>
        </p:txBody>
      </p:sp>
      <p:sp>
        <p:nvSpPr>
          <p:cNvPr name="TextBox 12" id="12"/>
          <p:cNvSpPr txBox="true"/>
          <p:nvPr/>
        </p:nvSpPr>
        <p:spPr>
          <a:xfrm rot="0">
            <a:off x="9092527" y="6188888"/>
            <a:ext cx="1967760" cy="213141"/>
          </a:xfrm>
          <a:prstGeom prst="rect">
            <a:avLst/>
          </a:prstGeom>
        </p:spPr>
        <p:txBody>
          <a:bodyPr anchor="t" rtlCol="false" tIns="0" lIns="0" bIns="0" rIns="0">
            <a:spAutoFit/>
          </a:bodyPr>
          <a:lstStyle/>
          <a:p>
            <a:pPr algn="ctr">
              <a:lnSpc>
                <a:spcPts val="1513"/>
              </a:lnSpc>
            </a:pPr>
            <a:r>
              <a:rPr lang="en-US" sz="1125">
                <a:solidFill>
                  <a:srgbClr val="D5D5D5"/>
                </a:solidFill>
                <a:latin typeface="Exo 2"/>
                <a:ea typeface="Exo 2"/>
                <a:cs typeface="Exo 2"/>
                <a:sym typeface="Exo 2"/>
              </a:rPr>
              <a:t>Submit queries, track status</a:t>
            </a:r>
          </a:p>
        </p:txBody>
      </p:sp>
      <p:grpSp>
        <p:nvGrpSpPr>
          <p:cNvPr name="Group 13" id="13"/>
          <p:cNvGrpSpPr/>
          <p:nvPr/>
        </p:nvGrpSpPr>
        <p:grpSpPr>
          <a:xfrm rot="0">
            <a:off x="9857927" y="4779235"/>
            <a:ext cx="436959" cy="436969"/>
            <a:chOff x="0" y="0"/>
            <a:chExt cx="582612" cy="582625"/>
          </a:xfrm>
        </p:grpSpPr>
        <p:sp>
          <p:nvSpPr>
            <p:cNvPr name="Freeform 14" id="14" descr="preencoded.png"/>
            <p:cNvSpPr/>
            <p:nvPr/>
          </p:nvSpPr>
          <p:spPr>
            <a:xfrm flipH="false" flipV="false" rot="0">
              <a:off x="0" y="0"/>
              <a:ext cx="582549" cy="582676"/>
            </a:xfrm>
            <a:custGeom>
              <a:avLst/>
              <a:gdLst/>
              <a:ahLst/>
              <a:cxnLst/>
              <a:rect r="r" b="b" t="t" l="l"/>
              <a:pathLst>
                <a:path h="582676" w="582549">
                  <a:moveTo>
                    <a:pt x="0" y="0"/>
                  </a:moveTo>
                  <a:lnTo>
                    <a:pt x="582549" y="0"/>
                  </a:lnTo>
                  <a:lnTo>
                    <a:pt x="582549" y="582676"/>
                  </a:lnTo>
                  <a:lnTo>
                    <a:pt x="0" y="582676"/>
                  </a:lnTo>
                  <a:lnTo>
                    <a:pt x="0" y="0"/>
                  </a:lnTo>
                  <a:close/>
                </a:path>
              </a:pathLst>
            </a:custGeom>
            <a:blipFill>
              <a:blip r:embed="rId4"/>
              <a:stretch>
                <a:fillRect l="-1" t="0" r="-11" b="8"/>
              </a:stretch>
            </a:blipFill>
          </p:spPr>
        </p:sp>
      </p:grpSp>
      <p:sp>
        <p:nvSpPr>
          <p:cNvPr name="TextBox 15" id="15"/>
          <p:cNvSpPr txBox="true"/>
          <p:nvPr/>
        </p:nvSpPr>
        <p:spPr>
          <a:xfrm rot="0">
            <a:off x="12037619" y="6010275"/>
            <a:ext cx="1967760" cy="264843"/>
          </a:xfrm>
          <a:prstGeom prst="rect">
            <a:avLst/>
          </a:prstGeom>
        </p:spPr>
        <p:txBody>
          <a:bodyPr anchor="t" rtlCol="false" tIns="0" lIns="0" bIns="0" rIns="0">
            <a:spAutoFit/>
          </a:bodyPr>
          <a:lstStyle/>
          <a:p>
            <a:pPr algn="ctr">
              <a:lnSpc>
                <a:spcPts val="1981"/>
              </a:lnSpc>
            </a:pPr>
            <a:r>
              <a:rPr lang="en-US" sz="1501">
                <a:solidFill>
                  <a:srgbClr val="D5D5D5"/>
                </a:solidFill>
                <a:latin typeface="Exo 2"/>
                <a:ea typeface="Exo 2"/>
                <a:cs typeface="Exo 2"/>
                <a:sym typeface="Exo 2"/>
              </a:rPr>
              <a:t>Faculty</a:t>
            </a:r>
          </a:p>
        </p:txBody>
      </p:sp>
      <p:sp>
        <p:nvSpPr>
          <p:cNvPr name="TextBox 16" id="16"/>
          <p:cNvSpPr txBox="true"/>
          <p:nvPr/>
        </p:nvSpPr>
        <p:spPr>
          <a:xfrm rot="0">
            <a:off x="12037619" y="6380245"/>
            <a:ext cx="1967760" cy="407222"/>
          </a:xfrm>
          <a:prstGeom prst="rect">
            <a:avLst/>
          </a:prstGeom>
        </p:spPr>
        <p:txBody>
          <a:bodyPr anchor="t" rtlCol="false" tIns="0" lIns="0" bIns="0" rIns="0">
            <a:spAutoFit/>
          </a:bodyPr>
          <a:lstStyle/>
          <a:p>
            <a:pPr algn="ctr">
              <a:lnSpc>
                <a:spcPts val="1513"/>
              </a:lnSpc>
            </a:pPr>
            <a:r>
              <a:rPr lang="en-US" sz="1125">
                <a:solidFill>
                  <a:srgbClr val="D5D5D5"/>
                </a:solidFill>
                <a:latin typeface="Exo 2"/>
                <a:ea typeface="Exo 2"/>
                <a:cs typeface="Exo 2"/>
                <a:sym typeface="Exo 2"/>
              </a:rPr>
              <a:t>Manage assigned queries, respond</a:t>
            </a:r>
          </a:p>
        </p:txBody>
      </p:sp>
      <p:grpSp>
        <p:nvGrpSpPr>
          <p:cNvPr name="Group 17" id="17"/>
          <p:cNvGrpSpPr/>
          <p:nvPr/>
        </p:nvGrpSpPr>
        <p:grpSpPr>
          <a:xfrm rot="0">
            <a:off x="12798647" y="5111515"/>
            <a:ext cx="436959" cy="436969"/>
            <a:chOff x="0" y="0"/>
            <a:chExt cx="582612" cy="582625"/>
          </a:xfrm>
        </p:grpSpPr>
        <p:sp>
          <p:nvSpPr>
            <p:cNvPr name="Freeform 18" id="18" descr="preencoded.png"/>
            <p:cNvSpPr/>
            <p:nvPr/>
          </p:nvSpPr>
          <p:spPr>
            <a:xfrm flipH="false" flipV="false" rot="0">
              <a:off x="0" y="0"/>
              <a:ext cx="582549" cy="582676"/>
            </a:xfrm>
            <a:custGeom>
              <a:avLst/>
              <a:gdLst/>
              <a:ahLst/>
              <a:cxnLst/>
              <a:rect r="r" b="b" t="t" l="l"/>
              <a:pathLst>
                <a:path h="582676" w="582549">
                  <a:moveTo>
                    <a:pt x="0" y="0"/>
                  </a:moveTo>
                  <a:lnTo>
                    <a:pt x="582549" y="0"/>
                  </a:lnTo>
                  <a:lnTo>
                    <a:pt x="582549" y="582676"/>
                  </a:lnTo>
                  <a:lnTo>
                    <a:pt x="0" y="582676"/>
                  </a:lnTo>
                  <a:lnTo>
                    <a:pt x="0" y="0"/>
                  </a:lnTo>
                  <a:close/>
                </a:path>
              </a:pathLst>
            </a:custGeom>
            <a:blipFill>
              <a:blip r:embed="rId5"/>
              <a:stretch>
                <a:fillRect l="-1" t="0" r="-11" b="8"/>
              </a:stretch>
            </a:blipFill>
          </p:spPr>
        </p:sp>
      </p:grpSp>
      <p:sp>
        <p:nvSpPr>
          <p:cNvPr name="TextBox 19" id="19"/>
          <p:cNvSpPr txBox="true"/>
          <p:nvPr/>
        </p:nvSpPr>
        <p:spPr>
          <a:xfrm rot="0">
            <a:off x="14982701" y="5704399"/>
            <a:ext cx="1967760" cy="264843"/>
          </a:xfrm>
          <a:prstGeom prst="rect">
            <a:avLst/>
          </a:prstGeom>
        </p:spPr>
        <p:txBody>
          <a:bodyPr anchor="t" rtlCol="false" tIns="0" lIns="0" bIns="0" rIns="0">
            <a:spAutoFit/>
          </a:bodyPr>
          <a:lstStyle/>
          <a:p>
            <a:pPr algn="ctr">
              <a:lnSpc>
                <a:spcPts val="1981"/>
              </a:lnSpc>
            </a:pPr>
            <a:r>
              <a:rPr lang="en-US" sz="1501">
                <a:solidFill>
                  <a:srgbClr val="D5D5D5"/>
                </a:solidFill>
                <a:latin typeface="Exo 2"/>
                <a:ea typeface="Exo 2"/>
                <a:cs typeface="Exo 2"/>
                <a:sym typeface="Exo 2"/>
              </a:rPr>
              <a:t>Administrator</a:t>
            </a:r>
          </a:p>
        </p:txBody>
      </p:sp>
      <p:sp>
        <p:nvSpPr>
          <p:cNvPr name="TextBox 20" id="20"/>
          <p:cNvSpPr txBox="true"/>
          <p:nvPr/>
        </p:nvSpPr>
        <p:spPr>
          <a:xfrm rot="0">
            <a:off x="14982701" y="6074369"/>
            <a:ext cx="1967760" cy="407222"/>
          </a:xfrm>
          <a:prstGeom prst="rect">
            <a:avLst/>
          </a:prstGeom>
        </p:spPr>
        <p:txBody>
          <a:bodyPr anchor="t" rtlCol="false" tIns="0" lIns="0" bIns="0" rIns="0">
            <a:spAutoFit/>
          </a:bodyPr>
          <a:lstStyle/>
          <a:p>
            <a:pPr algn="ctr">
              <a:lnSpc>
                <a:spcPts val="1513"/>
              </a:lnSpc>
            </a:pPr>
            <a:r>
              <a:rPr lang="en-US" sz="1125">
                <a:solidFill>
                  <a:srgbClr val="D5D5D5"/>
                </a:solidFill>
                <a:latin typeface="Exo 2"/>
                <a:ea typeface="Exo 2"/>
                <a:cs typeface="Exo 2"/>
                <a:sym typeface="Exo 2"/>
              </a:rPr>
              <a:t>Manage document knowledge base</a:t>
            </a:r>
          </a:p>
        </p:txBody>
      </p:sp>
      <p:grpSp>
        <p:nvGrpSpPr>
          <p:cNvPr name="Group 21" id="21"/>
          <p:cNvGrpSpPr/>
          <p:nvPr/>
        </p:nvGrpSpPr>
        <p:grpSpPr>
          <a:xfrm rot="0">
            <a:off x="15743730" y="4779416"/>
            <a:ext cx="436959" cy="436969"/>
            <a:chOff x="0" y="0"/>
            <a:chExt cx="582612" cy="582625"/>
          </a:xfrm>
        </p:grpSpPr>
        <p:sp>
          <p:nvSpPr>
            <p:cNvPr name="Freeform 22" id="22" descr="preencoded.png"/>
            <p:cNvSpPr/>
            <p:nvPr/>
          </p:nvSpPr>
          <p:spPr>
            <a:xfrm flipH="false" flipV="false" rot="0">
              <a:off x="0" y="0"/>
              <a:ext cx="582549" cy="582676"/>
            </a:xfrm>
            <a:custGeom>
              <a:avLst/>
              <a:gdLst/>
              <a:ahLst/>
              <a:cxnLst/>
              <a:rect r="r" b="b" t="t" l="l"/>
              <a:pathLst>
                <a:path h="582676" w="582549">
                  <a:moveTo>
                    <a:pt x="0" y="0"/>
                  </a:moveTo>
                  <a:lnTo>
                    <a:pt x="582549" y="0"/>
                  </a:lnTo>
                  <a:lnTo>
                    <a:pt x="582549" y="582676"/>
                  </a:lnTo>
                  <a:lnTo>
                    <a:pt x="0" y="582676"/>
                  </a:lnTo>
                  <a:lnTo>
                    <a:pt x="0" y="0"/>
                  </a:lnTo>
                  <a:close/>
                </a:path>
              </a:pathLst>
            </a:custGeom>
            <a:blipFill>
              <a:blip r:embed="rId6"/>
              <a:stretch>
                <a:fillRect l="-1" t="0" r="-11" b="8"/>
              </a:stretch>
            </a:blipFill>
          </p:spPr>
        </p:sp>
      </p:grpSp>
      <p:grpSp>
        <p:nvGrpSpPr>
          <p:cNvPr name="Group 23" id="23"/>
          <p:cNvGrpSpPr/>
          <p:nvPr/>
        </p:nvGrpSpPr>
        <p:grpSpPr>
          <a:xfrm rot="0">
            <a:off x="17773993" y="9711185"/>
            <a:ext cx="527847" cy="252460"/>
            <a:chOff x="0" y="0"/>
            <a:chExt cx="703796" cy="336614"/>
          </a:xfrm>
        </p:grpSpPr>
        <p:sp>
          <p:nvSpPr>
            <p:cNvPr name="Freeform 24" id="24"/>
            <p:cNvSpPr/>
            <p:nvPr/>
          </p:nvSpPr>
          <p:spPr>
            <a:xfrm flipH="false" flipV="false" rot="0">
              <a:off x="0" y="0"/>
              <a:ext cx="703794" cy="336615"/>
            </a:xfrm>
            <a:custGeom>
              <a:avLst/>
              <a:gdLst/>
              <a:ahLst/>
              <a:cxnLst/>
              <a:rect r="r" b="b" t="t" l="l"/>
              <a:pathLst>
                <a:path h="336615" w="703794">
                  <a:moveTo>
                    <a:pt x="0" y="0"/>
                  </a:moveTo>
                  <a:lnTo>
                    <a:pt x="703794" y="0"/>
                  </a:lnTo>
                  <a:lnTo>
                    <a:pt x="703794" y="336615"/>
                  </a:lnTo>
                  <a:lnTo>
                    <a:pt x="0" y="336615"/>
                  </a:lnTo>
                  <a:close/>
                </a:path>
              </a:pathLst>
            </a:custGeom>
            <a:blipFill>
              <a:blip r:embed="rId7">
                <a:alphaModFix amt="0"/>
              </a:blip>
              <a:stretch>
                <a:fillRect l="-11365" t="0" r="-11365" b="0"/>
              </a:stretch>
            </a:blipFill>
          </p:spPr>
        </p:sp>
        <p:sp>
          <p:nvSpPr>
            <p:cNvPr name="TextBox 25" id="25"/>
            <p:cNvSpPr txBox="true"/>
            <p:nvPr/>
          </p:nvSpPr>
          <p:spPr>
            <a:xfrm>
              <a:off x="0" y="-47625"/>
              <a:ext cx="703796" cy="384239"/>
            </a:xfrm>
            <a:prstGeom prst="rect">
              <a:avLst/>
            </a:prstGeom>
          </p:spPr>
          <p:txBody>
            <a:bodyPr anchor="ctr" rtlCol="false" tIns="0" lIns="0" bIns="0" rIns="0"/>
            <a:lstStyle/>
            <a:p>
              <a:pPr algn="l">
                <a:lnSpc>
                  <a:spcPts val="2019"/>
                </a:lnSpc>
              </a:pPr>
              <a:r>
                <a:rPr lang="en-US" sz="1426" spc="112">
                  <a:solidFill>
                    <a:srgbClr val="9D9D9D"/>
                  </a:solidFill>
                  <a:latin typeface="Arimo"/>
                  <a:ea typeface="Arimo"/>
                  <a:cs typeface="Arimo"/>
                  <a:sym typeface="Arimo"/>
                </a:rPr>
                <a:t>02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grpSp>
        <p:nvGrpSpPr>
          <p:cNvPr name="Group 2" id="2"/>
          <p:cNvGrpSpPr/>
          <p:nvPr/>
        </p:nvGrpSpPr>
        <p:grpSpPr>
          <a:xfrm rot="0">
            <a:off x="0" y="0"/>
            <a:ext cx="10676077" cy="10295039"/>
            <a:chOff x="0" y="0"/>
            <a:chExt cx="14234770" cy="13726719"/>
          </a:xfrm>
        </p:grpSpPr>
        <p:sp>
          <p:nvSpPr>
            <p:cNvPr name="Freeform 3" id="3"/>
            <p:cNvSpPr/>
            <p:nvPr/>
          </p:nvSpPr>
          <p:spPr>
            <a:xfrm flipH="false" flipV="false" rot="0">
              <a:off x="0" y="0"/>
              <a:ext cx="14234795" cy="13726668"/>
            </a:xfrm>
            <a:custGeom>
              <a:avLst/>
              <a:gdLst/>
              <a:ahLst/>
              <a:cxnLst/>
              <a:rect r="r" b="b" t="t" l="l"/>
              <a:pathLst>
                <a:path h="13726668" w="14234795">
                  <a:moveTo>
                    <a:pt x="0" y="0"/>
                  </a:moveTo>
                  <a:lnTo>
                    <a:pt x="14234795" y="0"/>
                  </a:lnTo>
                  <a:lnTo>
                    <a:pt x="14234795" y="13726668"/>
                  </a:lnTo>
                  <a:lnTo>
                    <a:pt x="0" y="13726668"/>
                  </a:lnTo>
                  <a:close/>
                </a:path>
              </a:pathLst>
            </a:custGeom>
            <a:solidFill>
              <a:srgbClr val="0E1F40"/>
            </a:solidFill>
          </p:spPr>
        </p:sp>
      </p:grpSp>
      <p:sp>
        <p:nvSpPr>
          <p:cNvPr name="TextBox 4" id="4"/>
          <p:cNvSpPr txBox="true"/>
          <p:nvPr/>
        </p:nvSpPr>
        <p:spPr>
          <a:xfrm rot="0">
            <a:off x="876967" y="765962"/>
            <a:ext cx="9799110"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THE PROBLEM</a:t>
            </a:r>
          </a:p>
        </p:txBody>
      </p:sp>
      <p:sp>
        <p:nvSpPr>
          <p:cNvPr name="TextBox 5" id="5"/>
          <p:cNvSpPr txBox="true"/>
          <p:nvPr/>
        </p:nvSpPr>
        <p:spPr>
          <a:xfrm rot="0">
            <a:off x="876967" y="1330233"/>
            <a:ext cx="9150925" cy="3513963"/>
          </a:xfrm>
          <a:prstGeom prst="rect">
            <a:avLst/>
          </a:prstGeom>
        </p:spPr>
        <p:txBody>
          <a:bodyPr anchor="t" rtlCol="false" tIns="0" lIns="0" bIns="0" rIns="0">
            <a:spAutoFit/>
          </a:bodyPr>
          <a:lstStyle/>
          <a:p>
            <a:pPr algn="l">
              <a:lnSpc>
                <a:spcPts val="7054"/>
              </a:lnSpc>
            </a:pPr>
            <a:r>
              <a:rPr lang="en-US" sz="6605" spc="-79">
                <a:solidFill>
                  <a:srgbClr val="D5D5D5"/>
                </a:solidFill>
                <a:latin typeface="Exo 2"/>
                <a:ea typeface="Exo 2"/>
                <a:cs typeface="Exo 2"/>
                <a:sym typeface="Exo 2"/>
              </a:rPr>
              <a:t>From fragmented information to grounded academic support</a:t>
            </a:r>
          </a:p>
        </p:txBody>
      </p:sp>
      <p:grpSp>
        <p:nvGrpSpPr>
          <p:cNvPr name="Group 6" id="6"/>
          <p:cNvGrpSpPr/>
          <p:nvPr/>
        </p:nvGrpSpPr>
        <p:grpSpPr>
          <a:xfrm rot="0">
            <a:off x="876967" y="5147224"/>
            <a:ext cx="2287734" cy="47511"/>
            <a:chOff x="0" y="0"/>
            <a:chExt cx="3050311" cy="63348"/>
          </a:xfrm>
        </p:grpSpPr>
        <p:sp>
          <p:nvSpPr>
            <p:cNvPr name="Freeform 7" id="7"/>
            <p:cNvSpPr/>
            <p:nvPr/>
          </p:nvSpPr>
          <p:spPr>
            <a:xfrm flipH="false" flipV="false" rot="0">
              <a:off x="0" y="0"/>
              <a:ext cx="3050286" cy="63247"/>
            </a:xfrm>
            <a:custGeom>
              <a:avLst/>
              <a:gdLst/>
              <a:ahLst/>
              <a:cxnLst/>
              <a:rect r="r" b="b" t="t" l="l"/>
              <a:pathLst>
                <a:path h="63247" w="3050286">
                  <a:moveTo>
                    <a:pt x="0" y="31623"/>
                  </a:moveTo>
                  <a:cubicBezTo>
                    <a:pt x="0" y="14224"/>
                    <a:pt x="14224" y="0"/>
                    <a:pt x="31623" y="0"/>
                  </a:cubicBezTo>
                  <a:lnTo>
                    <a:pt x="3018663" y="0"/>
                  </a:lnTo>
                  <a:cubicBezTo>
                    <a:pt x="3036189" y="0"/>
                    <a:pt x="3050286" y="14224"/>
                    <a:pt x="3050286" y="31623"/>
                  </a:cubicBezTo>
                  <a:cubicBezTo>
                    <a:pt x="3050286" y="49149"/>
                    <a:pt x="3036062" y="63246"/>
                    <a:pt x="3018663" y="63246"/>
                  </a:cubicBezTo>
                  <a:lnTo>
                    <a:pt x="31623" y="63246"/>
                  </a:lnTo>
                  <a:cubicBezTo>
                    <a:pt x="14224" y="63373"/>
                    <a:pt x="0" y="49149"/>
                    <a:pt x="0" y="31623"/>
                  </a:cubicBezTo>
                  <a:close/>
                </a:path>
              </a:pathLst>
            </a:custGeom>
            <a:solidFill>
              <a:srgbClr val="9BE1FF"/>
            </a:solidFill>
          </p:spPr>
        </p:sp>
      </p:grpSp>
      <p:sp>
        <p:nvSpPr>
          <p:cNvPr name="TextBox 8" id="8"/>
          <p:cNvSpPr txBox="true"/>
          <p:nvPr/>
        </p:nvSpPr>
        <p:spPr>
          <a:xfrm rot="0">
            <a:off x="876967" y="5721591"/>
            <a:ext cx="9150925"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Problems</a:t>
            </a:r>
          </a:p>
        </p:txBody>
      </p:sp>
      <p:sp>
        <p:nvSpPr>
          <p:cNvPr name="TextBox 9" id="9"/>
          <p:cNvSpPr txBox="true"/>
          <p:nvPr/>
        </p:nvSpPr>
        <p:spPr>
          <a:xfrm rot="0">
            <a:off x="876967" y="6565211"/>
            <a:ext cx="9150925" cy="2712539"/>
          </a:xfrm>
          <a:prstGeom prst="rect">
            <a:avLst/>
          </a:prstGeom>
        </p:spPr>
        <p:txBody>
          <a:bodyPr anchor="t" rtlCol="false" tIns="0" lIns="0" bIns="0" rIns="0">
            <a:spAutoFit/>
          </a:bodyPr>
          <a:lstStyle/>
          <a:p>
            <a:pPr algn="l" marL="407830" indent="-203915" lvl="1">
              <a:lnSpc>
                <a:spcPts val="3188"/>
              </a:lnSpc>
              <a:buFont typeface="Arial"/>
              <a:buChar char="•"/>
            </a:pPr>
            <a:r>
              <a:rPr lang="en-US" sz="2251">
                <a:solidFill>
                  <a:srgbClr val="D5D5D5"/>
                </a:solidFill>
                <a:latin typeface="Exo 2"/>
                <a:ea typeface="Exo 2"/>
                <a:cs typeface="Exo 2"/>
                <a:sym typeface="Exo 2"/>
              </a:rPr>
              <a:t>Manual handling can delay responses</a:t>
            </a:r>
          </a:p>
          <a:p>
            <a:pPr algn="l" marL="407830" indent="-203915" lvl="1">
              <a:lnSpc>
                <a:spcPts val="3188"/>
              </a:lnSpc>
              <a:buFont typeface="Arial"/>
              <a:buChar char="•"/>
            </a:pPr>
            <a:r>
              <a:rPr lang="en-US" sz="2251">
                <a:solidFill>
                  <a:srgbClr val="D5D5D5"/>
                </a:solidFill>
                <a:latin typeface="Exo 2"/>
                <a:ea typeface="Exo 2"/>
                <a:cs typeface="Exo 2"/>
                <a:sym typeface="Exo 2"/>
              </a:rPr>
              <a:t>Students may repeat questions already answered in institutional documents</a:t>
            </a:r>
          </a:p>
          <a:p>
            <a:pPr algn="l" marL="407830" indent="-203915" lvl="1">
              <a:lnSpc>
                <a:spcPts val="3188"/>
              </a:lnSpc>
              <a:buFont typeface="Arial"/>
              <a:buChar char="•"/>
            </a:pPr>
            <a:r>
              <a:rPr lang="en-US" sz="2251">
                <a:solidFill>
                  <a:srgbClr val="D5D5D5"/>
                </a:solidFill>
                <a:latin typeface="Exo 2"/>
                <a:ea typeface="Exo 2"/>
                <a:cs typeface="Exo 2"/>
                <a:sym typeface="Exo 2"/>
              </a:rPr>
              <a:t>Information spread across documents is hard to locate</a:t>
            </a:r>
          </a:p>
          <a:p>
            <a:pPr algn="l" marL="407830" indent="-203915" lvl="1">
              <a:lnSpc>
                <a:spcPts val="3188"/>
              </a:lnSpc>
              <a:buFont typeface="Arial"/>
              <a:buChar char="•"/>
            </a:pPr>
            <a:r>
              <a:rPr lang="en-US" sz="2251">
                <a:solidFill>
                  <a:srgbClr val="D5D5D5"/>
                </a:solidFill>
                <a:latin typeface="Exo 2"/>
                <a:ea typeface="Exo 2"/>
                <a:cs typeface="Exo 2"/>
                <a:sym typeface="Exo 2"/>
              </a:rPr>
              <a:t>Conventional query systems do not inherently provide document-grounded AI answers</a:t>
            </a:r>
          </a:p>
        </p:txBody>
      </p:sp>
      <p:sp>
        <p:nvSpPr>
          <p:cNvPr name="TextBox 10" id="10"/>
          <p:cNvSpPr txBox="true"/>
          <p:nvPr/>
        </p:nvSpPr>
        <p:spPr>
          <a:xfrm rot="0">
            <a:off x="11324263" y="765962"/>
            <a:ext cx="6977577"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THE RESPONSE</a:t>
            </a:r>
          </a:p>
        </p:txBody>
      </p:sp>
      <p:sp>
        <p:nvSpPr>
          <p:cNvPr name="TextBox 11" id="11"/>
          <p:cNvSpPr txBox="true"/>
          <p:nvPr/>
        </p:nvSpPr>
        <p:spPr>
          <a:xfrm rot="0">
            <a:off x="11324263" y="1299886"/>
            <a:ext cx="6176867" cy="656739"/>
          </a:xfrm>
          <a:prstGeom prst="rect">
            <a:avLst/>
          </a:prstGeom>
        </p:spPr>
        <p:txBody>
          <a:bodyPr anchor="t" rtlCol="false" tIns="0" lIns="0" bIns="0" rIns="0">
            <a:spAutoFit/>
          </a:bodyPr>
          <a:lstStyle/>
          <a:p>
            <a:pPr algn="l">
              <a:lnSpc>
                <a:spcPts val="5611"/>
              </a:lnSpc>
            </a:pPr>
            <a:r>
              <a:rPr lang="en-US" sz="5254" spc="-63">
                <a:solidFill>
                  <a:srgbClr val="ECECEC"/>
                </a:solidFill>
                <a:latin typeface="Exo 2"/>
                <a:ea typeface="Exo 2"/>
                <a:cs typeface="Exo 2"/>
                <a:sym typeface="Exo 2"/>
              </a:rPr>
              <a:t>Objectives</a:t>
            </a:r>
          </a:p>
        </p:txBody>
      </p:sp>
      <p:grpSp>
        <p:nvGrpSpPr>
          <p:cNvPr name="Group 12" id="12"/>
          <p:cNvGrpSpPr/>
          <p:nvPr/>
        </p:nvGrpSpPr>
        <p:grpSpPr>
          <a:xfrm rot="0">
            <a:off x="11324263" y="2270960"/>
            <a:ext cx="1544222" cy="47511"/>
            <a:chOff x="0" y="0"/>
            <a:chExt cx="2058962" cy="63348"/>
          </a:xfrm>
        </p:grpSpPr>
        <p:sp>
          <p:nvSpPr>
            <p:cNvPr name="Freeform 13" id="13"/>
            <p:cNvSpPr/>
            <p:nvPr/>
          </p:nvSpPr>
          <p:spPr>
            <a:xfrm flipH="false" flipV="false" rot="0">
              <a:off x="0" y="0"/>
              <a:ext cx="2058924" cy="63247"/>
            </a:xfrm>
            <a:custGeom>
              <a:avLst/>
              <a:gdLst/>
              <a:ahLst/>
              <a:cxnLst/>
              <a:rect r="r" b="b" t="t" l="l"/>
              <a:pathLst>
                <a:path h="63247" w="2058924">
                  <a:moveTo>
                    <a:pt x="0" y="31623"/>
                  </a:moveTo>
                  <a:cubicBezTo>
                    <a:pt x="0" y="14224"/>
                    <a:pt x="14224" y="0"/>
                    <a:pt x="31623" y="0"/>
                  </a:cubicBezTo>
                  <a:lnTo>
                    <a:pt x="2027301" y="0"/>
                  </a:lnTo>
                  <a:cubicBezTo>
                    <a:pt x="2044827" y="0"/>
                    <a:pt x="2058924" y="14224"/>
                    <a:pt x="2058924" y="31623"/>
                  </a:cubicBezTo>
                  <a:cubicBezTo>
                    <a:pt x="2058924" y="49149"/>
                    <a:pt x="2044700" y="63246"/>
                    <a:pt x="2027301" y="63246"/>
                  </a:cubicBezTo>
                  <a:lnTo>
                    <a:pt x="31623" y="63246"/>
                  </a:lnTo>
                  <a:cubicBezTo>
                    <a:pt x="14224" y="63373"/>
                    <a:pt x="0" y="49149"/>
                    <a:pt x="0" y="31623"/>
                  </a:cubicBezTo>
                  <a:close/>
                </a:path>
              </a:pathLst>
            </a:custGeom>
            <a:solidFill>
              <a:srgbClr val="9BE1FF"/>
            </a:solidFill>
          </p:spPr>
        </p:sp>
      </p:grpSp>
      <p:sp>
        <p:nvSpPr>
          <p:cNvPr name="TextBox 14" id="14"/>
          <p:cNvSpPr txBox="true"/>
          <p:nvPr/>
        </p:nvSpPr>
        <p:spPr>
          <a:xfrm rot="0">
            <a:off x="11324263" y="2607012"/>
            <a:ext cx="6176867" cy="3118561"/>
          </a:xfrm>
          <a:prstGeom prst="rect">
            <a:avLst/>
          </a:prstGeom>
        </p:spPr>
        <p:txBody>
          <a:bodyPr anchor="t" rtlCol="false" tIns="0" lIns="0" bIns="0" rIns="0">
            <a:spAutoFit/>
          </a:bodyPr>
          <a:lstStyle/>
          <a:p>
            <a:pPr algn="l" marL="407830" indent="-203915" lvl="1">
              <a:lnSpc>
                <a:spcPts val="3188"/>
              </a:lnSpc>
              <a:buFont typeface="Arial"/>
              <a:buChar char="•"/>
            </a:pPr>
            <a:r>
              <a:rPr lang="en-US" sz="2251">
                <a:solidFill>
                  <a:srgbClr val="D5D5D5"/>
                </a:solidFill>
                <a:latin typeface="Exo 2"/>
                <a:ea typeface="Exo 2"/>
                <a:cs typeface="Exo 2"/>
                <a:sym typeface="Exo 2"/>
              </a:rPr>
              <a:t>Centralize query management and role-based access</a:t>
            </a:r>
          </a:p>
          <a:p>
            <a:pPr algn="l" marL="407830" indent="-203915" lvl="1">
              <a:lnSpc>
                <a:spcPts val="3188"/>
              </a:lnSpc>
              <a:buFont typeface="Arial"/>
              <a:buChar char="•"/>
            </a:pPr>
            <a:r>
              <a:rPr lang="en-US" sz="2251">
                <a:solidFill>
                  <a:srgbClr val="D5D5D5"/>
                </a:solidFill>
                <a:latin typeface="Exo 2"/>
                <a:ea typeface="Exo 2"/>
                <a:cs typeface="Exo 2"/>
                <a:sym typeface="Exo 2"/>
              </a:rPr>
              <a:t>Assign queries to faculty by category</a:t>
            </a:r>
          </a:p>
          <a:p>
            <a:pPr algn="l" marL="407830" indent="-203915" lvl="1">
              <a:lnSpc>
                <a:spcPts val="3188"/>
              </a:lnSpc>
              <a:buFont typeface="Arial"/>
              <a:buChar char="•"/>
            </a:pPr>
            <a:r>
              <a:rPr lang="en-US" sz="2251">
                <a:solidFill>
                  <a:srgbClr val="D5D5D5"/>
                </a:solidFill>
                <a:latin typeface="Exo 2"/>
                <a:ea typeface="Exo 2"/>
                <a:cs typeface="Exo 2"/>
                <a:sym typeface="Exo 2"/>
              </a:rPr>
              <a:t>Enable semantic search across uploaded documents</a:t>
            </a:r>
          </a:p>
          <a:p>
            <a:pPr algn="l" marL="407830" indent="-203915" lvl="1">
              <a:lnSpc>
                <a:spcPts val="3188"/>
              </a:lnSpc>
              <a:buFont typeface="Arial"/>
              <a:buChar char="•"/>
            </a:pPr>
            <a:r>
              <a:rPr lang="en-US" sz="2251">
                <a:solidFill>
                  <a:srgbClr val="D5D5D5"/>
                </a:solidFill>
                <a:latin typeface="Exo 2"/>
                <a:ea typeface="Exo 2"/>
                <a:cs typeface="Exo 2"/>
                <a:sym typeface="Exo 2"/>
              </a:rPr>
              <a:t>Generate context-grounded answers with source information where available</a:t>
            </a:r>
          </a:p>
        </p:txBody>
      </p:sp>
      <p:sp>
        <p:nvSpPr>
          <p:cNvPr name="TextBox 15" id="15"/>
          <p:cNvSpPr txBox="true"/>
          <p:nvPr/>
        </p:nvSpPr>
        <p:spPr>
          <a:xfrm rot="0">
            <a:off x="11324263" y="9225115"/>
            <a:ext cx="6977577"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PROBLEM → SOLUTION</a:t>
            </a:r>
          </a:p>
        </p:txBody>
      </p:sp>
      <p:grpSp>
        <p:nvGrpSpPr>
          <p:cNvPr name="Group 16" id="16"/>
          <p:cNvGrpSpPr/>
          <p:nvPr/>
        </p:nvGrpSpPr>
        <p:grpSpPr>
          <a:xfrm rot="0">
            <a:off x="17743313" y="9695393"/>
            <a:ext cx="558527" cy="284188"/>
            <a:chOff x="0" y="0"/>
            <a:chExt cx="744703" cy="378917"/>
          </a:xfrm>
        </p:grpSpPr>
        <p:sp>
          <p:nvSpPr>
            <p:cNvPr name="Freeform 17" id="17"/>
            <p:cNvSpPr/>
            <p:nvPr/>
          </p:nvSpPr>
          <p:spPr>
            <a:xfrm flipH="false" flipV="false" rot="0">
              <a:off x="0" y="0"/>
              <a:ext cx="744704" cy="378914"/>
            </a:xfrm>
            <a:custGeom>
              <a:avLst/>
              <a:gdLst/>
              <a:ahLst/>
              <a:cxnLst/>
              <a:rect r="r" b="b" t="t" l="l"/>
              <a:pathLst>
                <a:path h="378914" w="744704">
                  <a:moveTo>
                    <a:pt x="0" y="0"/>
                  </a:moveTo>
                  <a:lnTo>
                    <a:pt x="744704" y="0"/>
                  </a:lnTo>
                  <a:lnTo>
                    <a:pt x="744704" y="378914"/>
                  </a:lnTo>
                  <a:lnTo>
                    <a:pt x="0" y="378914"/>
                  </a:lnTo>
                  <a:close/>
                </a:path>
              </a:pathLst>
            </a:custGeom>
            <a:blipFill>
              <a:blip r:embed="rId3">
                <a:alphaModFix amt="0"/>
              </a:blip>
              <a:stretch>
                <a:fillRect l="-15282" t="0" r="-15282" b="0"/>
              </a:stretch>
            </a:blipFill>
          </p:spPr>
        </p:sp>
        <p:sp>
          <p:nvSpPr>
            <p:cNvPr name="TextBox 18" id="18"/>
            <p:cNvSpPr txBox="true"/>
            <p:nvPr/>
          </p:nvSpPr>
          <p:spPr>
            <a:xfrm>
              <a:off x="0" y="-47625"/>
              <a:ext cx="744703" cy="426542"/>
            </a:xfrm>
            <a:prstGeom prst="rect">
              <a:avLst/>
            </a:prstGeom>
          </p:spPr>
          <p:txBody>
            <a:bodyPr anchor="ctr" rtlCol="false" tIns="0" lIns="0" bIns="0" rIns="0"/>
            <a:lstStyle/>
            <a:p>
              <a:pPr algn="l">
                <a:lnSpc>
                  <a:spcPts val="2231"/>
                </a:lnSpc>
              </a:pPr>
              <a:r>
                <a:rPr lang="en-US" sz="1576" spc="126">
                  <a:solidFill>
                    <a:srgbClr val="9D9D9D"/>
                  </a:solidFill>
                  <a:latin typeface="Arimo"/>
                  <a:ea typeface="Arimo"/>
                  <a:cs typeface="Arimo"/>
                  <a:sym typeface="Arimo"/>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915095" y="880348"/>
            <a:ext cx="17386744"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ARCHITECTURE</a:t>
            </a:r>
          </a:p>
        </p:txBody>
      </p:sp>
      <p:sp>
        <p:nvSpPr>
          <p:cNvPr name="TextBox 3" id="3"/>
          <p:cNvSpPr txBox="true"/>
          <p:nvPr/>
        </p:nvSpPr>
        <p:spPr>
          <a:xfrm rot="0">
            <a:off x="915095" y="1444619"/>
            <a:ext cx="16471659" cy="1718882"/>
          </a:xfrm>
          <a:prstGeom prst="rect">
            <a:avLst/>
          </a:prstGeom>
        </p:spPr>
        <p:txBody>
          <a:bodyPr anchor="t" rtlCol="false" tIns="0" lIns="0" bIns="0" rIns="0">
            <a:spAutoFit/>
          </a:bodyPr>
          <a:lstStyle/>
          <a:p>
            <a:pPr algn="l">
              <a:lnSpc>
                <a:spcPts val="7054"/>
              </a:lnSpc>
            </a:pPr>
            <a:r>
              <a:rPr lang="en-US" sz="6605" spc="-79">
                <a:solidFill>
                  <a:srgbClr val="ECECEC"/>
                </a:solidFill>
                <a:latin typeface="Exo 2"/>
                <a:ea typeface="Exo 2"/>
                <a:cs typeface="Exo 2"/>
                <a:sym typeface="Exo 2"/>
              </a:rPr>
              <a:t>A focused stack across product, API, AI, and quality layers</a:t>
            </a:r>
          </a:p>
        </p:txBody>
      </p:sp>
      <p:grpSp>
        <p:nvGrpSpPr>
          <p:cNvPr name="Group 4" id="4"/>
          <p:cNvGrpSpPr/>
          <p:nvPr/>
        </p:nvGrpSpPr>
        <p:grpSpPr>
          <a:xfrm rot="0">
            <a:off x="915095" y="3466538"/>
            <a:ext cx="4117915" cy="47511"/>
            <a:chOff x="0" y="0"/>
            <a:chExt cx="5490553" cy="63348"/>
          </a:xfrm>
        </p:grpSpPr>
        <p:sp>
          <p:nvSpPr>
            <p:cNvPr name="Freeform 5" id="5"/>
            <p:cNvSpPr/>
            <p:nvPr/>
          </p:nvSpPr>
          <p:spPr>
            <a:xfrm flipH="false" flipV="false" rot="0">
              <a:off x="0" y="0"/>
              <a:ext cx="5490464" cy="63247"/>
            </a:xfrm>
            <a:custGeom>
              <a:avLst/>
              <a:gdLst/>
              <a:ahLst/>
              <a:cxnLst/>
              <a:rect r="r" b="b" t="t" l="l"/>
              <a:pathLst>
                <a:path h="63247" w="5490464">
                  <a:moveTo>
                    <a:pt x="0" y="31623"/>
                  </a:moveTo>
                  <a:cubicBezTo>
                    <a:pt x="0" y="14224"/>
                    <a:pt x="14224" y="0"/>
                    <a:pt x="31623" y="0"/>
                  </a:cubicBezTo>
                  <a:lnTo>
                    <a:pt x="5458841" y="0"/>
                  </a:lnTo>
                  <a:cubicBezTo>
                    <a:pt x="5476367" y="0"/>
                    <a:pt x="5490464" y="14224"/>
                    <a:pt x="5490464" y="31623"/>
                  </a:cubicBezTo>
                  <a:cubicBezTo>
                    <a:pt x="5490464" y="49149"/>
                    <a:pt x="5476240" y="63246"/>
                    <a:pt x="5458841" y="63246"/>
                  </a:cubicBezTo>
                  <a:lnTo>
                    <a:pt x="31623" y="63246"/>
                  </a:lnTo>
                  <a:cubicBezTo>
                    <a:pt x="14224" y="63373"/>
                    <a:pt x="0" y="49149"/>
                    <a:pt x="0" y="31623"/>
                  </a:cubicBezTo>
                  <a:close/>
                </a:path>
              </a:pathLst>
            </a:custGeom>
            <a:solidFill>
              <a:srgbClr val="9BE1FF"/>
            </a:solidFill>
          </p:spPr>
        </p:sp>
      </p:grpSp>
      <p:sp>
        <p:nvSpPr>
          <p:cNvPr name="TextBox 6" id="6"/>
          <p:cNvSpPr txBox="true"/>
          <p:nvPr/>
        </p:nvSpPr>
        <p:spPr>
          <a:xfrm rot="0">
            <a:off x="915095" y="3802590"/>
            <a:ext cx="17386744"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Each layer maps to an implemented part of the system.</a:t>
            </a:r>
          </a:p>
        </p:txBody>
      </p:sp>
      <p:grpSp>
        <p:nvGrpSpPr>
          <p:cNvPr name="Group 7" id="7"/>
          <p:cNvGrpSpPr/>
          <p:nvPr/>
        </p:nvGrpSpPr>
        <p:grpSpPr>
          <a:xfrm rot="0">
            <a:off x="953224" y="4523146"/>
            <a:ext cx="571929" cy="571948"/>
            <a:chOff x="0" y="0"/>
            <a:chExt cx="762572" cy="762597"/>
          </a:xfrm>
        </p:grpSpPr>
        <p:sp>
          <p:nvSpPr>
            <p:cNvPr name="Freeform 8" id="8"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3"/>
              <a:stretch>
                <a:fillRect l="-1" t="0" r="6" b="4"/>
              </a:stretch>
            </a:blipFill>
          </p:spPr>
        </p:sp>
      </p:grpSp>
      <p:sp>
        <p:nvSpPr>
          <p:cNvPr name="TextBox 9" id="9"/>
          <p:cNvSpPr txBox="true"/>
          <p:nvPr/>
        </p:nvSpPr>
        <p:spPr>
          <a:xfrm rot="0">
            <a:off x="1830181" y="4475521"/>
            <a:ext cx="43085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Frontend</a:t>
            </a:r>
          </a:p>
        </p:txBody>
      </p:sp>
      <p:sp>
        <p:nvSpPr>
          <p:cNvPr name="TextBox 10" id="10"/>
          <p:cNvSpPr txBox="true"/>
          <p:nvPr/>
        </p:nvSpPr>
        <p:spPr>
          <a:xfrm rot="0">
            <a:off x="1830181" y="5319141"/>
            <a:ext cx="4308558" cy="859669"/>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React 19 · Vite · Tailwind CSS 4 · React Router 7 · JavaScript</a:t>
            </a:r>
          </a:p>
        </p:txBody>
      </p:sp>
      <p:grpSp>
        <p:nvGrpSpPr>
          <p:cNvPr name="Group 11" id="11"/>
          <p:cNvGrpSpPr/>
          <p:nvPr/>
        </p:nvGrpSpPr>
        <p:grpSpPr>
          <a:xfrm rot="0">
            <a:off x="6710677" y="4523146"/>
            <a:ext cx="571929" cy="571948"/>
            <a:chOff x="0" y="0"/>
            <a:chExt cx="762572" cy="762597"/>
          </a:xfrm>
        </p:grpSpPr>
        <p:sp>
          <p:nvSpPr>
            <p:cNvPr name="Freeform 12" id="12"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4"/>
              <a:stretch>
                <a:fillRect l="-1" t="0" r="6" b="4"/>
              </a:stretch>
            </a:blipFill>
          </p:spPr>
        </p:sp>
      </p:grpSp>
      <p:sp>
        <p:nvSpPr>
          <p:cNvPr name="TextBox 13" id="13"/>
          <p:cNvSpPr txBox="true"/>
          <p:nvPr/>
        </p:nvSpPr>
        <p:spPr>
          <a:xfrm rot="0">
            <a:off x="7587644" y="4475521"/>
            <a:ext cx="40416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Backend</a:t>
            </a:r>
          </a:p>
        </p:txBody>
      </p:sp>
      <p:sp>
        <p:nvSpPr>
          <p:cNvPr name="TextBox 14" id="14"/>
          <p:cNvSpPr txBox="true"/>
          <p:nvPr/>
        </p:nvSpPr>
        <p:spPr>
          <a:xfrm rot="0">
            <a:off x="7587644" y="5319141"/>
            <a:ext cx="4041658" cy="859669"/>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Python · FastAPI · Uvicorn · Pydantic · PyJWT</a:t>
            </a:r>
          </a:p>
        </p:txBody>
      </p:sp>
      <p:grpSp>
        <p:nvGrpSpPr>
          <p:cNvPr name="Group 15" id="15"/>
          <p:cNvGrpSpPr/>
          <p:nvPr/>
        </p:nvGrpSpPr>
        <p:grpSpPr>
          <a:xfrm rot="0">
            <a:off x="12201230" y="4523146"/>
            <a:ext cx="571929" cy="571948"/>
            <a:chOff x="0" y="0"/>
            <a:chExt cx="762572" cy="762597"/>
          </a:xfrm>
        </p:grpSpPr>
        <p:sp>
          <p:nvSpPr>
            <p:cNvPr name="Freeform 16" id="16"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5"/>
              <a:stretch>
                <a:fillRect l="-1" t="0" r="6" b="4"/>
              </a:stretch>
            </a:blipFill>
          </p:spPr>
        </p:sp>
      </p:grpSp>
      <p:sp>
        <p:nvSpPr>
          <p:cNvPr name="TextBox 17" id="17"/>
          <p:cNvSpPr txBox="true"/>
          <p:nvPr/>
        </p:nvSpPr>
        <p:spPr>
          <a:xfrm rot="0">
            <a:off x="13078187" y="4475521"/>
            <a:ext cx="43085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AI and RAG</a:t>
            </a:r>
          </a:p>
        </p:txBody>
      </p:sp>
      <p:sp>
        <p:nvSpPr>
          <p:cNvPr name="TextBox 18" id="18"/>
          <p:cNvSpPr txBox="true"/>
          <p:nvPr/>
        </p:nvSpPr>
        <p:spPr>
          <a:xfrm rot="0">
            <a:off x="13078187" y="5319141"/>
            <a:ext cx="4308558"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Sentence-Transformers · all-MiniLM-L6-v2 · ChromaDB · Google Gemini API</a:t>
            </a:r>
          </a:p>
        </p:txBody>
      </p:sp>
      <p:grpSp>
        <p:nvGrpSpPr>
          <p:cNvPr name="Group 19" id="19"/>
          <p:cNvGrpSpPr/>
          <p:nvPr/>
        </p:nvGrpSpPr>
        <p:grpSpPr>
          <a:xfrm rot="0">
            <a:off x="953224" y="7218445"/>
            <a:ext cx="571929" cy="571948"/>
            <a:chOff x="0" y="0"/>
            <a:chExt cx="762572" cy="762597"/>
          </a:xfrm>
        </p:grpSpPr>
        <p:sp>
          <p:nvSpPr>
            <p:cNvPr name="Freeform 20" id="20"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6"/>
              <a:stretch>
                <a:fillRect l="-1" t="0" r="6" b="4"/>
              </a:stretch>
            </a:blipFill>
          </p:spPr>
        </p:sp>
      </p:grpSp>
      <p:sp>
        <p:nvSpPr>
          <p:cNvPr name="TextBox 21" id="21"/>
          <p:cNvSpPr txBox="true"/>
          <p:nvPr/>
        </p:nvSpPr>
        <p:spPr>
          <a:xfrm rot="0">
            <a:off x="1830181" y="7170820"/>
            <a:ext cx="43085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Documents</a:t>
            </a:r>
          </a:p>
        </p:txBody>
      </p:sp>
      <p:sp>
        <p:nvSpPr>
          <p:cNvPr name="TextBox 22" id="22"/>
          <p:cNvSpPr txBox="true"/>
          <p:nvPr/>
        </p:nvSpPr>
        <p:spPr>
          <a:xfrm rot="0">
            <a:off x="1830181" y="8014440"/>
            <a:ext cx="4308558" cy="859669"/>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PyMuPDF · python-docx · Python text-processing utilities</a:t>
            </a:r>
          </a:p>
        </p:txBody>
      </p:sp>
      <p:grpSp>
        <p:nvGrpSpPr>
          <p:cNvPr name="Group 23" id="23"/>
          <p:cNvGrpSpPr/>
          <p:nvPr/>
        </p:nvGrpSpPr>
        <p:grpSpPr>
          <a:xfrm rot="0">
            <a:off x="6710677" y="7218445"/>
            <a:ext cx="571929" cy="571948"/>
            <a:chOff x="0" y="0"/>
            <a:chExt cx="762572" cy="762597"/>
          </a:xfrm>
        </p:grpSpPr>
        <p:sp>
          <p:nvSpPr>
            <p:cNvPr name="Freeform 24" id="24"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7"/>
              <a:stretch>
                <a:fillRect l="-1" t="0" r="6" b="4"/>
              </a:stretch>
            </a:blipFill>
          </p:spPr>
        </p:sp>
      </p:grpSp>
      <p:sp>
        <p:nvSpPr>
          <p:cNvPr name="TextBox 25" id="25"/>
          <p:cNvSpPr txBox="true"/>
          <p:nvPr/>
        </p:nvSpPr>
        <p:spPr>
          <a:xfrm rot="0">
            <a:off x="7587644" y="7170820"/>
            <a:ext cx="9799110"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Testing</a:t>
            </a:r>
          </a:p>
        </p:txBody>
      </p:sp>
      <p:sp>
        <p:nvSpPr>
          <p:cNvPr name="TextBox 26" id="26"/>
          <p:cNvSpPr txBox="true"/>
          <p:nvPr/>
        </p:nvSpPr>
        <p:spPr>
          <a:xfrm rot="0">
            <a:off x="7587644" y="8014440"/>
            <a:ext cx="9799110"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Pytest · ESLint · Vite production build</a:t>
            </a:r>
          </a:p>
        </p:txBody>
      </p:sp>
      <p:grpSp>
        <p:nvGrpSpPr>
          <p:cNvPr name="Group 27" id="27"/>
          <p:cNvGrpSpPr/>
          <p:nvPr/>
        </p:nvGrpSpPr>
        <p:grpSpPr>
          <a:xfrm rot="0">
            <a:off x="6396114" y="4523146"/>
            <a:ext cx="19069" cy="2428389"/>
            <a:chOff x="0" y="0"/>
            <a:chExt cx="25425" cy="3237852"/>
          </a:xfrm>
        </p:grpSpPr>
        <p:sp>
          <p:nvSpPr>
            <p:cNvPr name="Freeform 28" id="28"/>
            <p:cNvSpPr/>
            <p:nvPr/>
          </p:nvSpPr>
          <p:spPr>
            <a:xfrm flipH="false" flipV="false" rot="0">
              <a:off x="0" y="0"/>
              <a:ext cx="25400" cy="3237865"/>
            </a:xfrm>
            <a:custGeom>
              <a:avLst/>
              <a:gdLst/>
              <a:ahLst/>
              <a:cxnLst/>
              <a:rect r="r" b="b" t="t" l="l"/>
              <a:pathLst>
                <a:path h="3237865" w="25400">
                  <a:moveTo>
                    <a:pt x="0" y="0"/>
                  </a:moveTo>
                  <a:lnTo>
                    <a:pt x="25400" y="0"/>
                  </a:lnTo>
                  <a:lnTo>
                    <a:pt x="25400" y="3237865"/>
                  </a:lnTo>
                  <a:lnTo>
                    <a:pt x="0" y="3237865"/>
                  </a:lnTo>
                  <a:close/>
                </a:path>
              </a:pathLst>
            </a:custGeom>
            <a:solidFill>
              <a:srgbClr val="3F3F3F"/>
            </a:solidFill>
          </p:spPr>
        </p:sp>
      </p:grpSp>
      <p:grpSp>
        <p:nvGrpSpPr>
          <p:cNvPr name="Group 29" id="29"/>
          <p:cNvGrpSpPr/>
          <p:nvPr/>
        </p:nvGrpSpPr>
        <p:grpSpPr>
          <a:xfrm rot="0">
            <a:off x="11886667" y="4523146"/>
            <a:ext cx="19069" cy="2428389"/>
            <a:chOff x="0" y="0"/>
            <a:chExt cx="25425" cy="3237852"/>
          </a:xfrm>
        </p:grpSpPr>
        <p:sp>
          <p:nvSpPr>
            <p:cNvPr name="Freeform 30" id="30"/>
            <p:cNvSpPr/>
            <p:nvPr/>
          </p:nvSpPr>
          <p:spPr>
            <a:xfrm flipH="false" flipV="false" rot="0">
              <a:off x="0" y="0"/>
              <a:ext cx="25400" cy="3237865"/>
            </a:xfrm>
            <a:custGeom>
              <a:avLst/>
              <a:gdLst/>
              <a:ahLst/>
              <a:cxnLst/>
              <a:rect r="r" b="b" t="t" l="l"/>
              <a:pathLst>
                <a:path h="3237865" w="25400">
                  <a:moveTo>
                    <a:pt x="0" y="0"/>
                  </a:moveTo>
                  <a:lnTo>
                    <a:pt x="25400" y="0"/>
                  </a:lnTo>
                  <a:lnTo>
                    <a:pt x="25400" y="3237865"/>
                  </a:lnTo>
                  <a:lnTo>
                    <a:pt x="0" y="3237865"/>
                  </a:lnTo>
                  <a:close/>
                </a:path>
              </a:pathLst>
            </a:custGeom>
            <a:solidFill>
              <a:srgbClr val="3F3F3F"/>
            </a:solidFill>
          </p:spPr>
        </p:sp>
      </p:grpSp>
      <p:grpSp>
        <p:nvGrpSpPr>
          <p:cNvPr name="Group 31" id="31"/>
          <p:cNvGrpSpPr/>
          <p:nvPr/>
        </p:nvGrpSpPr>
        <p:grpSpPr>
          <a:xfrm rot="0">
            <a:off x="915095" y="6942001"/>
            <a:ext cx="5490553" cy="19069"/>
            <a:chOff x="0" y="0"/>
            <a:chExt cx="7320737" cy="25425"/>
          </a:xfrm>
        </p:grpSpPr>
        <p:sp>
          <p:nvSpPr>
            <p:cNvPr name="Freeform 32" id="32"/>
            <p:cNvSpPr/>
            <p:nvPr/>
          </p:nvSpPr>
          <p:spPr>
            <a:xfrm flipH="false" flipV="false" rot="0">
              <a:off x="0" y="0"/>
              <a:ext cx="7320788" cy="25400"/>
            </a:xfrm>
            <a:custGeom>
              <a:avLst/>
              <a:gdLst/>
              <a:ahLst/>
              <a:cxnLst/>
              <a:rect r="r" b="b" t="t" l="l"/>
              <a:pathLst>
                <a:path h="25400" w="7320788">
                  <a:moveTo>
                    <a:pt x="0" y="0"/>
                  </a:moveTo>
                  <a:lnTo>
                    <a:pt x="7320788" y="0"/>
                  </a:lnTo>
                  <a:lnTo>
                    <a:pt x="7320788" y="25400"/>
                  </a:lnTo>
                  <a:lnTo>
                    <a:pt x="0" y="25400"/>
                  </a:lnTo>
                  <a:close/>
                </a:path>
              </a:pathLst>
            </a:custGeom>
            <a:solidFill>
              <a:srgbClr val="3F3F3F"/>
            </a:solidFill>
          </p:spPr>
        </p:sp>
      </p:grpSp>
      <p:grpSp>
        <p:nvGrpSpPr>
          <p:cNvPr name="Group 33" id="33"/>
          <p:cNvGrpSpPr/>
          <p:nvPr/>
        </p:nvGrpSpPr>
        <p:grpSpPr>
          <a:xfrm rot="0">
            <a:off x="6396114" y="6951536"/>
            <a:ext cx="19069" cy="2428389"/>
            <a:chOff x="0" y="0"/>
            <a:chExt cx="25425" cy="3237852"/>
          </a:xfrm>
        </p:grpSpPr>
        <p:sp>
          <p:nvSpPr>
            <p:cNvPr name="Freeform 34" id="34"/>
            <p:cNvSpPr/>
            <p:nvPr/>
          </p:nvSpPr>
          <p:spPr>
            <a:xfrm flipH="false" flipV="false" rot="0">
              <a:off x="0" y="0"/>
              <a:ext cx="25400" cy="3237865"/>
            </a:xfrm>
            <a:custGeom>
              <a:avLst/>
              <a:gdLst/>
              <a:ahLst/>
              <a:cxnLst/>
              <a:rect r="r" b="b" t="t" l="l"/>
              <a:pathLst>
                <a:path h="3237865" w="25400">
                  <a:moveTo>
                    <a:pt x="0" y="0"/>
                  </a:moveTo>
                  <a:lnTo>
                    <a:pt x="25400" y="0"/>
                  </a:lnTo>
                  <a:lnTo>
                    <a:pt x="25400" y="3237865"/>
                  </a:lnTo>
                  <a:lnTo>
                    <a:pt x="0" y="3237865"/>
                  </a:lnTo>
                  <a:close/>
                </a:path>
              </a:pathLst>
            </a:custGeom>
            <a:solidFill>
              <a:srgbClr val="3F3F3F"/>
            </a:solidFill>
          </p:spPr>
        </p:sp>
      </p:grpSp>
      <p:grpSp>
        <p:nvGrpSpPr>
          <p:cNvPr name="Group 35" id="35"/>
          <p:cNvGrpSpPr/>
          <p:nvPr/>
        </p:nvGrpSpPr>
        <p:grpSpPr>
          <a:xfrm rot="0">
            <a:off x="6405648" y="6942001"/>
            <a:ext cx="10981106" cy="19069"/>
            <a:chOff x="0" y="0"/>
            <a:chExt cx="14641474" cy="25425"/>
          </a:xfrm>
        </p:grpSpPr>
        <p:sp>
          <p:nvSpPr>
            <p:cNvPr name="Freeform 36" id="36"/>
            <p:cNvSpPr/>
            <p:nvPr/>
          </p:nvSpPr>
          <p:spPr>
            <a:xfrm flipH="false" flipV="false" rot="0">
              <a:off x="0" y="0"/>
              <a:ext cx="14641449" cy="25400"/>
            </a:xfrm>
            <a:custGeom>
              <a:avLst/>
              <a:gdLst/>
              <a:ahLst/>
              <a:cxnLst/>
              <a:rect r="r" b="b" t="t" l="l"/>
              <a:pathLst>
                <a:path h="25400" w="14641449">
                  <a:moveTo>
                    <a:pt x="0" y="0"/>
                  </a:moveTo>
                  <a:lnTo>
                    <a:pt x="14641449" y="0"/>
                  </a:lnTo>
                  <a:lnTo>
                    <a:pt x="14641449" y="25400"/>
                  </a:lnTo>
                  <a:lnTo>
                    <a:pt x="0" y="25400"/>
                  </a:lnTo>
                  <a:close/>
                </a:path>
              </a:pathLst>
            </a:custGeom>
            <a:solidFill>
              <a:srgbClr val="3F3F3F"/>
            </a:solidFill>
          </p:spPr>
        </p:sp>
      </p:grpSp>
      <p:grpSp>
        <p:nvGrpSpPr>
          <p:cNvPr name="Group 37" id="37"/>
          <p:cNvGrpSpPr/>
          <p:nvPr/>
        </p:nvGrpSpPr>
        <p:grpSpPr>
          <a:xfrm rot="0">
            <a:off x="17743313" y="9695393"/>
            <a:ext cx="558527" cy="284188"/>
            <a:chOff x="0" y="0"/>
            <a:chExt cx="744703" cy="378917"/>
          </a:xfrm>
        </p:grpSpPr>
        <p:sp>
          <p:nvSpPr>
            <p:cNvPr name="Freeform 38" id="38"/>
            <p:cNvSpPr/>
            <p:nvPr/>
          </p:nvSpPr>
          <p:spPr>
            <a:xfrm flipH="false" flipV="false" rot="0">
              <a:off x="0" y="0"/>
              <a:ext cx="744704" cy="378914"/>
            </a:xfrm>
            <a:custGeom>
              <a:avLst/>
              <a:gdLst/>
              <a:ahLst/>
              <a:cxnLst/>
              <a:rect r="r" b="b" t="t" l="l"/>
              <a:pathLst>
                <a:path h="378914" w="744704">
                  <a:moveTo>
                    <a:pt x="0" y="0"/>
                  </a:moveTo>
                  <a:lnTo>
                    <a:pt x="744704" y="0"/>
                  </a:lnTo>
                  <a:lnTo>
                    <a:pt x="744704" y="378914"/>
                  </a:lnTo>
                  <a:lnTo>
                    <a:pt x="0" y="378914"/>
                  </a:lnTo>
                  <a:close/>
                </a:path>
              </a:pathLst>
            </a:custGeom>
            <a:blipFill>
              <a:blip r:embed="rId8">
                <a:alphaModFix amt="0"/>
              </a:blip>
              <a:stretch>
                <a:fillRect l="-15282" t="0" r="-15282" b="0"/>
              </a:stretch>
            </a:blipFill>
          </p:spPr>
        </p:sp>
        <p:sp>
          <p:nvSpPr>
            <p:cNvPr name="TextBox 39" id="39"/>
            <p:cNvSpPr txBox="true"/>
            <p:nvPr/>
          </p:nvSpPr>
          <p:spPr>
            <a:xfrm>
              <a:off x="0" y="-47625"/>
              <a:ext cx="744703" cy="426542"/>
            </a:xfrm>
            <a:prstGeom prst="rect">
              <a:avLst/>
            </a:prstGeom>
          </p:spPr>
          <p:txBody>
            <a:bodyPr anchor="ctr" rtlCol="false" tIns="0" lIns="0" bIns="0" rIns="0"/>
            <a:lstStyle/>
            <a:p>
              <a:pPr algn="l">
                <a:lnSpc>
                  <a:spcPts val="2231"/>
                </a:lnSpc>
              </a:pPr>
              <a:r>
                <a:rPr lang="en-US" sz="1576" spc="126">
                  <a:solidFill>
                    <a:srgbClr val="9D9D9D"/>
                  </a:solidFill>
                  <a:latin typeface="Arimo"/>
                  <a:ea typeface="Arimo"/>
                  <a:cs typeface="Arimo"/>
                  <a:sym typeface="Arimo"/>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915095" y="880348"/>
            <a:ext cx="17386744"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END-TO-END FLOWS</a:t>
            </a:r>
          </a:p>
        </p:txBody>
      </p:sp>
      <p:sp>
        <p:nvSpPr>
          <p:cNvPr name="TextBox 3" id="3"/>
          <p:cNvSpPr txBox="true"/>
          <p:nvPr/>
        </p:nvSpPr>
        <p:spPr>
          <a:xfrm rot="0">
            <a:off x="915095" y="1444619"/>
            <a:ext cx="16471659" cy="1718882"/>
          </a:xfrm>
          <a:prstGeom prst="rect">
            <a:avLst/>
          </a:prstGeom>
        </p:spPr>
        <p:txBody>
          <a:bodyPr anchor="t" rtlCol="false" tIns="0" lIns="0" bIns="0" rIns="0">
            <a:spAutoFit/>
          </a:bodyPr>
          <a:lstStyle/>
          <a:p>
            <a:pPr algn="l">
              <a:lnSpc>
                <a:spcPts val="7054"/>
              </a:lnSpc>
            </a:pPr>
            <a:r>
              <a:rPr lang="en-US" sz="6605" spc="-79">
                <a:solidFill>
                  <a:srgbClr val="ECECEC"/>
                </a:solidFill>
                <a:latin typeface="Exo 2"/>
                <a:ea typeface="Exo 2"/>
                <a:cs typeface="Exo 2"/>
                <a:sym typeface="Exo 2"/>
              </a:rPr>
              <a:t>Two connected workflows power the system</a:t>
            </a:r>
          </a:p>
        </p:txBody>
      </p:sp>
      <p:grpSp>
        <p:nvGrpSpPr>
          <p:cNvPr name="Group 4" id="4"/>
          <p:cNvGrpSpPr/>
          <p:nvPr/>
        </p:nvGrpSpPr>
        <p:grpSpPr>
          <a:xfrm rot="0">
            <a:off x="915095" y="3466538"/>
            <a:ext cx="4117915" cy="47511"/>
            <a:chOff x="0" y="0"/>
            <a:chExt cx="5490553" cy="63348"/>
          </a:xfrm>
        </p:grpSpPr>
        <p:sp>
          <p:nvSpPr>
            <p:cNvPr name="Freeform 5" id="5"/>
            <p:cNvSpPr/>
            <p:nvPr/>
          </p:nvSpPr>
          <p:spPr>
            <a:xfrm flipH="false" flipV="false" rot="0">
              <a:off x="0" y="0"/>
              <a:ext cx="5490464" cy="63247"/>
            </a:xfrm>
            <a:custGeom>
              <a:avLst/>
              <a:gdLst/>
              <a:ahLst/>
              <a:cxnLst/>
              <a:rect r="r" b="b" t="t" l="l"/>
              <a:pathLst>
                <a:path h="63247" w="5490464">
                  <a:moveTo>
                    <a:pt x="0" y="31623"/>
                  </a:moveTo>
                  <a:cubicBezTo>
                    <a:pt x="0" y="14224"/>
                    <a:pt x="14224" y="0"/>
                    <a:pt x="31623" y="0"/>
                  </a:cubicBezTo>
                  <a:lnTo>
                    <a:pt x="5458841" y="0"/>
                  </a:lnTo>
                  <a:cubicBezTo>
                    <a:pt x="5476367" y="0"/>
                    <a:pt x="5490464" y="14224"/>
                    <a:pt x="5490464" y="31623"/>
                  </a:cubicBezTo>
                  <a:cubicBezTo>
                    <a:pt x="5490464" y="49149"/>
                    <a:pt x="5476240" y="63246"/>
                    <a:pt x="5458841" y="63246"/>
                  </a:cubicBezTo>
                  <a:lnTo>
                    <a:pt x="31623" y="63246"/>
                  </a:lnTo>
                  <a:cubicBezTo>
                    <a:pt x="14224" y="63373"/>
                    <a:pt x="0" y="49149"/>
                    <a:pt x="0" y="31623"/>
                  </a:cubicBezTo>
                  <a:close/>
                </a:path>
              </a:pathLst>
            </a:custGeom>
            <a:solidFill>
              <a:srgbClr val="9BE1FF"/>
            </a:solidFill>
          </p:spPr>
        </p:sp>
      </p:grpSp>
      <p:sp>
        <p:nvSpPr>
          <p:cNvPr name="TextBox 6" id="6"/>
          <p:cNvSpPr txBox="true"/>
          <p:nvPr/>
        </p:nvSpPr>
        <p:spPr>
          <a:xfrm rot="0">
            <a:off x="915095" y="3802590"/>
            <a:ext cx="80070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Academic query workflow</a:t>
            </a:r>
          </a:p>
        </p:txBody>
      </p:sp>
      <p:sp>
        <p:nvSpPr>
          <p:cNvPr name="TextBox 7" id="7"/>
          <p:cNvSpPr txBox="true"/>
          <p:nvPr/>
        </p:nvSpPr>
        <p:spPr>
          <a:xfrm rot="0">
            <a:off x="915095" y="4646209"/>
            <a:ext cx="8007058" cy="859669"/>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Student → React frontend → HTTP REST request → FastAPI backend → Query management service → response to user</a:t>
            </a:r>
          </a:p>
        </p:txBody>
      </p:sp>
      <p:sp>
        <p:nvSpPr>
          <p:cNvPr name="TextBox 8" id="8"/>
          <p:cNvSpPr txBox="true"/>
          <p:nvPr/>
        </p:nvSpPr>
        <p:spPr>
          <a:xfrm rot="0">
            <a:off x="9379696" y="3802590"/>
            <a:ext cx="8007058"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RAG workflow</a:t>
            </a:r>
          </a:p>
        </p:txBody>
      </p:sp>
      <p:sp>
        <p:nvSpPr>
          <p:cNvPr name="TextBox 9" id="9"/>
          <p:cNvSpPr txBox="true"/>
          <p:nvPr/>
        </p:nvSpPr>
        <p:spPr>
          <a:xfrm rot="0">
            <a:off x="9379696" y="4646209"/>
            <a:ext cx="8007058" cy="2077736"/>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Admin upload → extraction → chunking → embeddings → ChromaDB → Student question → query embedding → vector retrieval → Relevance check → Gemini only when relevant context is available → Answer plus available source metadata → frontend</a:t>
            </a:r>
          </a:p>
        </p:txBody>
      </p:sp>
      <p:grpSp>
        <p:nvGrpSpPr>
          <p:cNvPr name="Group 10" id="10"/>
          <p:cNvGrpSpPr/>
          <p:nvPr/>
        </p:nvGrpSpPr>
        <p:grpSpPr>
          <a:xfrm rot="0">
            <a:off x="915095" y="6990855"/>
            <a:ext cx="8121444" cy="1942538"/>
            <a:chOff x="0" y="0"/>
            <a:chExt cx="10828592" cy="2590051"/>
          </a:xfrm>
        </p:grpSpPr>
        <p:sp>
          <p:nvSpPr>
            <p:cNvPr name="Freeform 11" id="11"/>
            <p:cNvSpPr/>
            <p:nvPr/>
          </p:nvSpPr>
          <p:spPr>
            <a:xfrm flipH="false" flipV="false" rot="0">
              <a:off x="0" y="0"/>
              <a:ext cx="10828528" cy="2590038"/>
            </a:xfrm>
            <a:custGeom>
              <a:avLst/>
              <a:gdLst/>
              <a:ahLst/>
              <a:cxnLst/>
              <a:rect r="r" b="b" t="t" l="l"/>
              <a:pathLst>
                <a:path h="2590038" w="10828528">
                  <a:moveTo>
                    <a:pt x="0" y="0"/>
                  </a:moveTo>
                  <a:lnTo>
                    <a:pt x="10828528" y="0"/>
                  </a:lnTo>
                  <a:lnTo>
                    <a:pt x="10828528" y="2590038"/>
                  </a:lnTo>
                  <a:lnTo>
                    <a:pt x="0" y="2590038"/>
                  </a:lnTo>
                  <a:close/>
                </a:path>
              </a:pathLst>
            </a:custGeom>
            <a:solidFill>
              <a:srgbClr val="0E1F40"/>
            </a:solidFill>
          </p:spPr>
        </p:sp>
      </p:grpSp>
      <p:sp>
        <p:nvSpPr>
          <p:cNvPr name="TextBox 12" id="12"/>
          <p:cNvSpPr txBox="true"/>
          <p:nvPr/>
        </p:nvSpPr>
        <p:spPr>
          <a:xfrm rot="0">
            <a:off x="1258252" y="7299265"/>
            <a:ext cx="7778286"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PROTECTED OPERATIONS</a:t>
            </a:r>
          </a:p>
        </p:txBody>
      </p:sp>
      <p:sp>
        <p:nvSpPr>
          <p:cNvPr name="TextBox 13" id="13"/>
          <p:cNvSpPr txBox="true"/>
          <p:nvPr/>
        </p:nvSpPr>
        <p:spPr>
          <a:xfrm rot="0">
            <a:off x="1258252" y="7730557"/>
            <a:ext cx="7778286"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JWT authentication and role-based authorization</a:t>
            </a:r>
          </a:p>
        </p:txBody>
      </p:sp>
      <p:grpSp>
        <p:nvGrpSpPr>
          <p:cNvPr name="Group 14" id="14"/>
          <p:cNvGrpSpPr/>
          <p:nvPr/>
        </p:nvGrpSpPr>
        <p:grpSpPr>
          <a:xfrm rot="0">
            <a:off x="9265310" y="6990855"/>
            <a:ext cx="8121444" cy="1942538"/>
            <a:chOff x="0" y="0"/>
            <a:chExt cx="10828592" cy="2590051"/>
          </a:xfrm>
        </p:grpSpPr>
        <p:sp>
          <p:nvSpPr>
            <p:cNvPr name="Freeform 15" id="15"/>
            <p:cNvSpPr/>
            <p:nvPr/>
          </p:nvSpPr>
          <p:spPr>
            <a:xfrm flipH="false" flipV="false" rot="0">
              <a:off x="0" y="0"/>
              <a:ext cx="10828528" cy="2590038"/>
            </a:xfrm>
            <a:custGeom>
              <a:avLst/>
              <a:gdLst/>
              <a:ahLst/>
              <a:cxnLst/>
              <a:rect r="r" b="b" t="t" l="l"/>
              <a:pathLst>
                <a:path h="2590038" w="10828528">
                  <a:moveTo>
                    <a:pt x="0" y="0"/>
                  </a:moveTo>
                  <a:lnTo>
                    <a:pt x="10828528" y="0"/>
                  </a:lnTo>
                  <a:lnTo>
                    <a:pt x="10828528" y="2590038"/>
                  </a:lnTo>
                  <a:lnTo>
                    <a:pt x="0" y="2590038"/>
                  </a:lnTo>
                  <a:close/>
                </a:path>
              </a:pathLst>
            </a:custGeom>
            <a:solidFill>
              <a:srgbClr val="241B55"/>
            </a:solidFill>
          </p:spPr>
        </p:sp>
      </p:grpSp>
      <p:sp>
        <p:nvSpPr>
          <p:cNvPr name="TextBox 16" id="16"/>
          <p:cNvSpPr txBox="true"/>
          <p:nvPr/>
        </p:nvSpPr>
        <p:spPr>
          <a:xfrm rot="0">
            <a:off x="9608468" y="7299265"/>
            <a:ext cx="7778286"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INSUFFICIENT CONTEXT</a:t>
            </a:r>
          </a:p>
        </p:txBody>
      </p:sp>
      <p:sp>
        <p:nvSpPr>
          <p:cNvPr name="TextBox 17" id="17"/>
          <p:cNvSpPr txBox="true"/>
          <p:nvPr/>
        </p:nvSpPr>
        <p:spPr>
          <a:xfrm rot="0">
            <a:off x="9608468" y="7730557"/>
            <a:ext cx="7435120" cy="859669"/>
          </a:xfrm>
          <a:prstGeom prst="rect">
            <a:avLst/>
          </a:prstGeom>
        </p:spPr>
        <p:txBody>
          <a:bodyPr anchor="t" rtlCol="false" tIns="0" lIns="0" bIns="0" rIns="0">
            <a:spAutoFit/>
          </a:bodyPr>
          <a:lstStyle/>
          <a:p>
            <a:pPr algn="l">
              <a:lnSpc>
                <a:spcPts val="3188"/>
              </a:lnSpc>
            </a:pPr>
            <a:r>
              <a:rPr lang="en-US" sz="2251">
                <a:solidFill>
                  <a:srgbClr val="FFFFFF"/>
                </a:solidFill>
                <a:latin typeface="Exo 2"/>
                <a:ea typeface="Exo 2"/>
                <a:cs typeface="Exo 2"/>
                <a:sym typeface="Exo 2"/>
              </a:rPr>
              <a:t>Return a knowledge-gap response rather than an unsupported answer</a:t>
            </a:r>
          </a:p>
        </p:txBody>
      </p:sp>
      <p:grpSp>
        <p:nvGrpSpPr>
          <p:cNvPr name="Group 18" id="18"/>
          <p:cNvGrpSpPr/>
          <p:nvPr/>
        </p:nvGrpSpPr>
        <p:grpSpPr>
          <a:xfrm rot="0">
            <a:off x="17743313" y="9695393"/>
            <a:ext cx="558527" cy="284188"/>
            <a:chOff x="0" y="0"/>
            <a:chExt cx="744703" cy="378917"/>
          </a:xfrm>
        </p:grpSpPr>
        <p:sp>
          <p:nvSpPr>
            <p:cNvPr name="Freeform 19" id="19"/>
            <p:cNvSpPr/>
            <p:nvPr/>
          </p:nvSpPr>
          <p:spPr>
            <a:xfrm flipH="false" flipV="false" rot="0">
              <a:off x="0" y="0"/>
              <a:ext cx="744704" cy="378914"/>
            </a:xfrm>
            <a:custGeom>
              <a:avLst/>
              <a:gdLst/>
              <a:ahLst/>
              <a:cxnLst/>
              <a:rect r="r" b="b" t="t" l="l"/>
              <a:pathLst>
                <a:path h="378914" w="744704">
                  <a:moveTo>
                    <a:pt x="0" y="0"/>
                  </a:moveTo>
                  <a:lnTo>
                    <a:pt x="744704" y="0"/>
                  </a:lnTo>
                  <a:lnTo>
                    <a:pt x="744704" y="378914"/>
                  </a:lnTo>
                  <a:lnTo>
                    <a:pt x="0" y="378914"/>
                  </a:lnTo>
                  <a:close/>
                </a:path>
              </a:pathLst>
            </a:custGeom>
            <a:blipFill>
              <a:blip r:embed="rId3">
                <a:alphaModFix amt="0"/>
              </a:blip>
              <a:stretch>
                <a:fillRect l="-15282" t="0" r="-15282" b="0"/>
              </a:stretch>
            </a:blipFill>
          </p:spPr>
        </p:sp>
        <p:sp>
          <p:nvSpPr>
            <p:cNvPr name="TextBox 20" id="20"/>
            <p:cNvSpPr txBox="true"/>
            <p:nvPr/>
          </p:nvSpPr>
          <p:spPr>
            <a:xfrm>
              <a:off x="0" y="-47625"/>
              <a:ext cx="744703" cy="426542"/>
            </a:xfrm>
            <a:prstGeom prst="rect">
              <a:avLst/>
            </a:prstGeom>
          </p:spPr>
          <p:txBody>
            <a:bodyPr anchor="ctr" rtlCol="false" tIns="0" lIns="0" bIns="0" rIns="0"/>
            <a:lstStyle/>
            <a:p>
              <a:pPr algn="l">
                <a:lnSpc>
                  <a:spcPts val="2231"/>
                </a:lnSpc>
              </a:pPr>
              <a:r>
                <a:rPr lang="en-US" sz="1576" spc="126">
                  <a:solidFill>
                    <a:srgbClr val="9D9D9D"/>
                  </a:solidFill>
                  <a:latin typeface="Arimo"/>
                  <a:ea typeface="Arimo"/>
                  <a:cs typeface="Arimo"/>
                  <a:sym typeface="Arimo"/>
                </a:rPr>
                <a:t>05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915095" y="880348"/>
            <a:ext cx="17386744"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RESPONSIBILITY MODEL</a:t>
            </a:r>
          </a:p>
        </p:txBody>
      </p:sp>
      <p:sp>
        <p:nvSpPr>
          <p:cNvPr name="TextBox 3" id="3"/>
          <p:cNvSpPr txBox="true"/>
          <p:nvPr/>
        </p:nvSpPr>
        <p:spPr>
          <a:xfrm rot="0">
            <a:off x="915095" y="1444619"/>
            <a:ext cx="16471659" cy="1718882"/>
          </a:xfrm>
          <a:prstGeom prst="rect">
            <a:avLst/>
          </a:prstGeom>
        </p:spPr>
        <p:txBody>
          <a:bodyPr anchor="t" rtlCol="false" tIns="0" lIns="0" bIns="0" rIns="0">
            <a:spAutoFit/>
          </a:bodyPr>
          <a:lstStyle/>
          <a:p>
            <a:pPr algn="l">
              <a:lnSpc>
                <a:spcPts val="7054"/>
              </a:lnSpc>
            </a:pPr>
            <a:r>
              <a:rPr lang="en-US" sz="6605" spc="-79">
                <a:solidFill>
                  <a:srgbClr val="ECECEC"/>
                </a:solidFill>
                <a:latin typeface="Exo 2"/>
                <a:ea typeface="Exo 2"/>
                <a:cs typeface="Exo 2"/>
                <a:sym typeface="Exo 2"/>
              </a:rPr>
              <a:t>Role-based workflows keep responsibilities clear</a:t>
            </a:r>
          </a:p>
        </p:txBody>
      </p:sp>
      <p:grpSp>
        <p:nvGrpSpPr>
          <p:cNvPr name="Group 4" id="4"/>
          <p:cNvGrpSpPr/>
          <p:nvPr/>
        </p:nvGrpSpPr>
        <p:grpSpPr>
          <a:xfrm rot="0">
            <a:off x="915095" y="3466538"/>
            <a:ext cx="4117915" cy="47511"/>
            <a:chOff x="0" y="0"/>
            <a:chExt cx="5490553" cy="63348"/>
          </a:xfrm>
        </p:grpSpPr>
        <p:sp>
          <p:nvSpPr>
            <p:cNvPr name="Freeform 5" id="5"/>
            <p:cNvSpPr/>
            <p:nvPr/>
          </p:nvSpPr>
          <p:spPr>
            <a:xfrm flipH="false" flipV="false" rot="0">
              <a:off x="0" y="0"/>
              <a:ext cx="5490464" cy="63247"/>
            </a:xfrm>
            <a:custGeom>
              <a:avLst/>
              <a:gdLst/>
              <a:ahLst/>
              <a:cxnLst/>
              <a:rect r="r" b="b" t="t" l="l"/>
              <a:pathLst>
                <a:path h="63247" w="5490464">
                  <a:moveTo>
                    <a:pt x="0" y="31623"/>
                  </a:moveTo>
                  <a:cubicBezTo>
                    <a:pt x="0" y="14224"/>
                    <a:pt x="14224" y="0"/>
                    <a:pt x="31623" y="0"/>
                  </a:cubicBezTo>
                  <a:lnTo>
                    <a:pt x="5458841" y="0"/>
                  </a:lnTo>
                  <a:cubicBezTo>
                    <a:pt x="5476367" y="0"/>
                    <a:pt x="5490464" y="14224"/>
                    <a:pt x="5490464" y="31623"/>
                  </a:cubicBezTo>
                  <a:cubicBezTo>
                    <a:pt x="5490464" y="49149"/>
                    <a:pt x="5476240" y="63246"/>
                    <a:pt x="5458841" y="63246"/>
                  </a:cubicBezTo>
                  <a:lnTo>
                    <a:pt x="31623" y="63246"/>
                  </a:lnTo>
                  <a:cubicBezTo>
                    <a:pt x="14224" y="63373"/>
                    <a:pt x="0" y="49149"/>
                    <a:pt x="0" y="31623"/>
                  </a:cubicBezTo>
                  <a:close/>
                </a:path>
              </a:pathLst>
            </a:custGeom>
            <a:solidFill>
              <a:srgbClr val="9BE1FF"/>
            </a:solidFill>
          </p:spPr>
        </p:sp>
      </p:grpSp>
      <p:grpSp>
        <p:nvGrpSpPr>
          <p:cNvPr name="Group 6" id="6"/>
          <p:cNvGrpSpPr/>
          <p:nvPr/>
        </p:nvGrpSpPr>
        <p:grpSpPr>
          <a:xfrm rot="0">
            <a:off x="915095" y="3850215"/>
            <a:ext cx="5490553" cy="4031332"/>
            <a:chOff x="0" y="0"/>
            <a:chExt cx="7320737" cy="5375110"/>
          </a:xfrm>
        </p:grpSpPr>
        <p:sp>
          <p:nvSpPr>
            <p:cNvPr name="Freeform 7" id="7"/>
            <p:cNvSpPr/>
            <p:nvPr/>
          </p:nvSpPr>
          <p:spPr>
            <a:xfrm flipH="false" flipV="false" rot="0">
              <a:off x="0" y="0"/>
              <a:ext cx="7320788" cy="5375148"/>
            </a:xfrm>
            <a:custGeom>
              <a:avLst/>
              <a:gdLst/>
              <a:ahLst/>
              <a:cxnLst/>
              <a:rect r="r" b="b" t="t" l="l"/>
              <a:pathLst>
                <a:path h="5375148" w="7320788">
                  <a:moveTo>
                    <a:pt x="19050" y="0"/>
                  </a:moveTo>
                  <a:lnTo>
                    <a:pt x="7320788" y="0"/>
                  </a:lnTo>
                  <a:lnTo>
                    <a:pt x="7320788" y="5375148"/>
                  </a:lnTo>
                  <a:lnTo>
                    <a:pt x="19050" y="5375148"/>
                  </a:lnTo>
                  <a:cubicBezTo>
                    <a:pt x="8509" y="5375148"/>
                    <a:pt x="0" y="5366639"/>
                    <a:pt x="0" y="5356098"/>
                  </a:cubicBezTo>
                  <a:lnTo>
                    <a:pt x="0" y="19050"/>
                  </a:lnTo>
                  <a:cubicBezTo>
                    <a:pt x="0" y="8509"/>
                    <a:pt x="8509" y="0"/>
                    <a:pt x="19050" y="0"/>
                  </a:cubicBezTo>
                  <a:close/>
                </a:path>
              </a:pathLst>
            </a:custGeom>
            <a:solidFill>
              <a:srgbClr val="0E1F40"/>
            </a:solidFill>
          </p:spPr>
        </p:sp>
      </p:grpSp>
      <p:grpSp>
        <p:nvGrpSpPr>
          <p:cNvPr name="Group 8" id="8"/>
          <p:cNvGrpSpPr/>
          <p:nvPr/>
        </p:nvGrpSpPr>
        <p:grpSpPr>
          <a:xfrm rot="0">
            <a:off x="1334510" y="4002738"/>
            <a:ext cx="571929" cy="571948"/>
            <a:chOff x="0" y="0"/>
            <a:chExt cx="762572" cy="762597"/>
          </a:xfrm>
        </p:grpSpPr>
        <p:sp>
          <p:nvSpPr>
            <p:cNvPr name="Freeform 9" id="9"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3"/>
              <a:stretch>
                <a:fillRect l="-1" t="0" r="6" b="4"/>
              </a:stretch>
            </a:blipFill>
          </p:spPr>
        </p:sp>
      </p:grpSp>
      <p:sp>
        <p:nvSpPr>
          <p:cNvPr name="TextBox 10" id="10"/>
          <p:cNvSpPr txBox="true"/>
          <p:nvPr/>
        </p:nvSpPr>
        <p:spPr>
          <a:xfrm rot="0">
            <a:off x="1334510" y="4793961"/>
            <a:ext cx="4651715"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Student</a:t>
            </a:r>
          </a:p>
        </p:txBody>
      </p:sp>
      <p:sp>
        <p:nvSpPr>
          <p:cNvPr name="TextBox 11" id="11"/>
          <p:cNvSpPr txBox="true"/>
          <p:nvPr/>
        </p:nvSpPr>
        <p:spPr>
          <a:xfrm rot="0">
            <a:off x="1334510" y="5637590"/>
            <a:ext cx="4651715" cy="1671714"/>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Submit academic queries, view personal queries, track status, and use the AI interface for document-related questions.</a:t>
            </a:r>
          </a:p>
        </p:txBody>
      </p:sp>
      <p:grpSp>
        <p:nvGrpSpPr>
          <p:cNvPr name="Group 12" id="12"/>
          <p:cNvGrpSpPr/>
          <p:nvPr/>
        </p:nvGrpSpPr>
        <p:grpSpPr>
          <a:xfrm rot="0">
            <a:off x="6405648" y="3850215"/>
            <a:ext cx="5490553" cy="4031332"/>
            <a:chOff x="0" y="0"/>
            <a:chExt cx="7320737" cy="5375110"/>
          </a:xfrm>
        </p:grpSpPr>
        <p:sp>
          <p:nvSpPr>
            <p:cNvPr name="Freeform 13" id="13"/>
            <p:cNvSpPr/>
            <p:nvPr/>
          </p:nvSpPr>
          <p:spPr>
            <a:xfrm flipH="false" flipV="false" rot="0">
              <a:off x="0" y="0"/>
              <a:ext cx="7320788" cy="5375148"/>
            </a:xfrm>
            <a:custGeom>
              <a:avLst/>
              <a:gdLst/>
              <a:ahLst/>
              <a:cxnLst/>
              <a:rect r="r" b="b" t="t" l="l"/>
              <a:pathLst>
                <a:path h="5375148" w="7320788">
                  <a:moveTo>
                    <a:pt x="0" y="0"/>
                  </a:moveTo>
                  <a:lnTo>
                    <a:pt x="7320788" y="0"/>
                  </a:lnTo>
                  <a:lnTo>
                    <a:pt x="7320788" y="5375148"/>
                  </a:lnTo>
                  <a:lnTo>
                    <a:pt x="0" y="5375148"/>
                  </a:lnTo>
                  <a:close/>
                </a:path>
              </a:pathLst>
            </a:custGeom>
            <a:solidFill>
              <a:srgbClr val="241B55"/>
            </a:solidFill>
          </p:spPr>
        </p:sp>
      </p:grpSp>
      <p:grpSp>
        <p:nvGrpSpPr>
          <p:cNvPr name="Group 14" id="14"/>
          <p:cNvGrpSpPr/>
          <p:nvPr/>
        </p:nvGrpSpPr>
        <p:grpSpPr>
          <a:xfrm rot="0">
            <a:off x="6825063" y="4002738"/>
            <a:ext cx="571929" cy="571948"/>
            <a:chOff x="0" y="0"/>
            <a:chExt cx="762572" cy="762597"/>
          </a:xfrm>
        </p:grpSpPr>
        <p:sp>
          <p:nvSpPr>
            <p:cNvPr name="Freeform 15" id="15"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4"/>
              <a:stretch>
                <a:fillRect l="-1" t="0" r="6" b="4"/>
              </a:stretch>
            </a:blipFill>
          </p:spPr>
        </p:sp>
      </p:grpSp>
      <p:sp>
        <p:nvSpPr>
          <p:cNvPr name="TextBox 16" id="16"/>
          <p:cNvSpPr txBox="true"/>
          <p:nvPr/>
        </p:nvSpPr>
        <p:spPr>
          <a:xfrm rot="0">
            <a:off x="6825063" y="4793961"/>
            <a:ext cx="4651715" cy="676770"/>
          </a:xfrm>
          <a:prstGeom prst="rect">
            <a:avLst/>
          </a:prstGeom>
        </p:spPr>
        <p:txBody>
          <a:bodyPr anchor="t" rtlCol="false" tIns="0" lIns="0" bIns="0" rIns="0">
            <a:spAutoFit/>
          </a:bodyPr>
          <a:lstStyle/>
          <a:p>
            <a:pPr algn="l">
              <a:lnSpc>
                <a:spcPts val="4953"/>
              </a:lnSpc>
            </a:pPr>
            <a:r>
              <a:rPr lang="en-US" sz="3752">
                <a:solidFill>
                  <a:srgbClr val="FFFFFF"/>
                </a:solidFill>
                <a:latin typeface="Exo 2"/>
                <a:ea typeface="Exo 2"/>
                <a:cs typeface="Exo 2"/>
                <a:sym typeface="Exo 2"/>
              </a:rPr>
              <a:t>Faculty</a:t>
            </a:r>
          </a:p>
        </p:txBody>
      </p:sp>
      <p:sp>
        <p:nvSpPr>
          <p:cNvPr name="TextBox 17" id="17"/>
          <p:cNvSpPr txBox="true"/>
          <p:nvPr/>
        </p:nvSpPr>
        <p:spPr>
          <a:xfrm rot="0">
            <a:off x="6825063" y="5637590"/>
            <a:ext cx="4651715" cy="1265692"/>
          </a:xfrm>
          <a:prstGeom prst="rect">
            <a:avLst/>
          </a:prstGeom>
        </p:spPr>
        <p:txBody>
          <a:bodyPr anchor="t" rtlCol="false" tIns="0" lIns="0" bIns="0" rIns="0">
            <a:spAutoFit/>
          </a:bodyPr>
          <a:lstStyle/>
          <a:p>
            <a:pPr algn="l">
              <a:lnSpc>
                <a:spcPts val="3188"/>
              </a:lnSpc>
            </a:pPr>
            <a:r>
              <a:rPr lang="en-US" sz="2251">
                <a:solidFill>
                  <a:srgbClr val="FFFFFF"/>
                </a:solidFill>
                <a:latin typeface="Exo 2"/>
                <a:ea typeface="Exo 2"/>
                <a:cs typeface="Exo 2"/>
                <a:sym typeface="Exo 2"/>
              </a:rPr>
              <a:t>Access assigned queries, review student questions, provide responses, and manage status.</a:t>
            </a:r>
          </a:p>
        </p:txBody>
      </p:sp>
      <p:grpSp>
        <p:nvGrpSpPr>
          <p:cNvPr name="Group 18" id="18"/>
          <p:cNvGrpSpPr/>
          <p:nvPr/>
        </p:nvGrpSpPr>
        <p:grpSpPr>
          <a:xfrm rot="0">
            <a:off x="12315615" y="4002738"/>
            <a:ext cx="571929" cy="571948"/>
            <a:chOff x="0" y="0"/>
            <a:chExt cx="762572" cy="762597"/>
          </a:xfrm>
        </p:grpSpPr>
        <p:sp>
          <p:nvSpPr>
            <p:cNvPr name="Freeform 19" id="19" descr="preencoded.png"/>
            <p:cNvSpPr/>
            <p:nvPr/>
          </p:nvSpPr>
          <p:spPr>
            <a:xfrm flipH="false" flipV="false" rot="0">
              <a:off x="0" y="0"/>
              <a:ext cx="762635" cy="762635"/>
            </a:xfrm>
            <a:custGeom>
              <a:avLst/>
              <a:gdLst/>
              <a:ahLst/>
              <a:cxnLst/>
              <a:rect r="r" b="b" t="t" l="l"/>
              <a:pathLst>
                <a:path h="762635" w="762635">
                  <a:moveTo>
                    <a:pt x="0" y="0"/>
                  </a:moveTo>
                  <a:lnTo>
                    <a:pt x="762635" y="0"/>
                  </a:lnTo>
                  <a:lnTo>
                    <a:pt x="762635" y="762635"/>
                  </a:lnTo>
                  <a:lnTo>
                    <a:pt x="0" y="762635"/>
                  </a:lnTo>
                  <a:lnTo>
                    <a:pt x="0" y="0"/>
                  </a:lnTo>
                  <a:close/>
                </a:path>
              </a:pathLst>
            </a:custGeom>
            <a:blipFill>
              <a:blip r:embed="rId5"/>
              <a:stretch>
                <a:fillRect l="-1" t="0" r="6" b="4"/>
              </a:stretch>
            </a:blipFill>
          </p:spPr>
        </p:sp>
      </p:grpSp>
      <p:sp>
        <p:nvSpPr>
          <p:cNvPr name="TextBox 20" id="20"/>
          <p:cNvSpPr txBox="true"/>
          <p:nvPr/>
        </p:nvSpPr>
        <p:spPr>
          <a:xfrm rot="0">
            <a:off x="12315615" y="4793961"/>
            <a:ext cx="4651715" cy="676770"/>
          </a:xfrm>
          <a:prstGeom prst="rect">
            <a:avLst/>
          </a:prstGeom>
        </p:spPr>
        <p:txBody>
          <a:bodyPr anchor="t" rtlCol="false" tIns="0" lIns="0" bIns="0" rIns="0">
            <a:spAutoFit/>
          </a:bodyPr>
          <a:lstStyle/>
          <a:p>
            <a:pPr algn="l">
              <a:lnSpc>
                <a:spcPts val="4953"/>
              </a:lnSpc>
            </a:pPr>
            <a:r>
              <a:rPr lang="en-US" sz="3752">
                <a:solidFill>
                  <a:srgbClr val="D5D5D5"/>
                </a:solidFill>
                <a:latin typeface="Exo 2"/>
                <a:ea typeface="Exo 2"/>
                <a:cs typeface="Exo 2"/>
                <a:sym typeface="Exo 2"/>
              </a:rPr>
              <a:t>Administrator</a:t>
            </a:r>
          </a:p>
        </p:txBody>
      </p:sp>
      <p:sp>
        <p:nvSpPr>
          <p:cNvPr name="TextBox 21" id="21"/>
          <p:cNvSpPr txBox="true"/>
          <p:nvPr/>
        </p:nvSpPr>
        <p:spPr>
          <a:xfrm rot="0">
            <a:off x="12315615" y="5637590"/>
            <a:ext cx="4651715" cy="1671714"/>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Access administrative functions, upload supported knowledge-base documents, list documents, and delete documents.</a:t>
            </a:r>
          </a:p>
        </p:txBody>
      </p:sp>
      <p:grpSp>
        <p:nvGrpSpPr>
          <p:cNvPr name="Group 22" id="22"/>
          <p:cNvGrpSpPr/>
          <p:nvPr/>
        </p:nvGrpSpPr>
        <p:grpSpPr>
          <a:xfrm rot="0">
            <a:off x="915095" y="8148457"/>
            <a:ext cx="5338039" cy="1231478"/>
            <a:chOff x="0" y="0"/>
            <a:chExt cx="7117385" cy="1641970"/>
          </a:xfrm>
        </p:grpSpPr>
        <p:sp>
          <p:nvSpPr>
            <p:cNvPr name="Freeform 23" id="23"/>
            <p:cNvSpPr/>
            <p:nvPr/>
          </p:nvSpPr>
          <p:spPr>
            <a:xfrm flipH="false" flipV="false" rot="0">
              <a:off x="0" y="0"/>
              <a:ext cx="7117334" cy="1641983"/>
            </a:xfrm>
            <a:custGeom>
              <a:avLst/>
              <a:gdLst/>
              <a:ahLst/>
              <a:cxnLst/>
              <a:rect r="r" b="b" t="t" l="l"/>
              <a:pathLst>
                <a:path h="1641983" w="7117334">
                  <a:moveTo>
                    <a:pt x="0" y="0"/>
                  </a:moveTo>
                  <a:lnTo>
                    <a:pt x="7117334" y="0"/>
                  </a:lnTo>
                  <a:lnTo>
                    <a:pt x="7117334" y="1641983"/>
                  </a:lnTo>
                  <a:lnTo>
                    <a:pt x="0" y="1641983"/>
                  </a:lnTo>
                  <a:close/>
                </a:path>
              </a:pathLst>
            </a:custGeom>
            <a:solidFill>
              <a:srgbClr val="0E1F40"/>
            </a:solidFill>
          </p:spPr>
        </p:sp>
      </p:grpSp>
      <p:sp>
        <p:nvSpPr>
          <p:cNvPr name="TextBox 24" id="24"/>
          <p:cNvSpPr txBox="true"/>
          <p:nvPr/>
        </p:nvSpPr>
        <p:spPr>
          <a:xfrm rot="0">
            <a:off x="1181995" y="8304343"/>
            <a:ext cx="5071139"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AUTHENTICATION</a:t>
            </a:r>
          </a:p>
        </p:txBody>
      </p:sp>
      <p:sp>
        <p:nvSpPr>
          <p:cNvPr name="TextBox 25" id="25"/>
          <p:cNvSpPr txBox="true"/>
          <p:nvPr/>
        </p:nvSpPr>
        <p:spPr>
          <a:xfrm rot="0">
            <a:off x="1181995" y="8735635"/>
            <a:ext cx="5071139"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JWT authentication</a:t>
            </a:r>
          </a:p>
        </p:txBody>
      </p:sp>
      <p:grpSp>
        <p:nvGrpSpPr>
          <p:cNvPr name="Group 26" id="26"/>
          <p:cNvGrpSpPr/>
          <p:nvPr/>
        </p:nvGrpSpPr>
        <p:grpSpPr>
          <a:xfrm rot="0">
            <a:off x="6481905" y="8148457"/>
            <a:ext cx="5338039" cy="1231478"/>
            <a:chOff x="0" y="0"/>
            <a:chExt cx="7117385" cy="1641970"/>
          </a:xfrm>
        </p:grpSpPr>
        <p:sp>
          <p:nvSpPr>
            <p:cNvPr name="Freeform 27" id="27"/>
            <p:cNvSpPr/>
            <p:nvPr/>
          </p:nvSpPr>
          <p:spPr>
            <a:xfrm flipH="false" flipV="false" rot="0">
              <a:off x="0" y="0"/>
              <a:ext cx="7117334" cy="1641983"/>
            </a:xfrm>
            <a:custGeom>
              <a:avLst/>
              <a:gdLst/>
              <a:ahLst/>
              <a:cxnLst/>
              <a:rect r="r" b="b" t="t" l="l"/>
              <a:pathLst>
                <a:path h="1641983" w="7117334">
                  <a:moveTo>
                    <a:pt x="0" y="0"/>
                  </a:moveTo>
                  <a:lnTo>
                    <a:pt x="7117334" y="0"/>
                  </a:lnTo>
                  <a:lnTo>
                    <a:pt x="7117334" y="1641983"/>
                  </a:lnTo>
                  <a:lnTo>
                    <a:pt x="0" y="1641983"/>
                  </a:lnTo>
                  <a:close/>
                </a:path>
              </a:pathLst>
            </a:custGeom>
            <a:solidFill>
              <a:srgbClr val="0E1F40"/>
            </a:solidFill>
          </p:spPr>
        </p:sp>
      </p:grpSp>
      <p:sp>
        <p:nvSpPr>
          <p:cNvPr name="TextBox 28" id="28"/>
          <p:cNvSpPr txBox="true"/>
          <p:nvPr/>
        </p:nvSpPr>
        <p:spPr>
          <a:xfrm rot="0">
            <a:off x="6748805" y="8304343"/>
            <a:ext cx="5071139"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AUTHORIZATION</a:t>
            </a:r>
          </a:p>
        </p:txBody>
      </p:sp>
      <p:sp>
        <p:nvSpPr>
          <p:cNvPr name="TextBox 29" id="29"/>
          <p:cNvSpPr txBox="true"/>
          <p:nvPr/>
        </p:nvSpPr>
        <p:spPr>
          <a:xfrm rot="0">
            <a:off x="6748805" y="8735635"/>
            <a:ext cx="5071139"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Role-based authorization</a:t>
            </a:r>
          </a:p>
        </p:txBody>
      </p:sp>
      <p:grpSp>
        <p:nvGrpSpPr>
          <p:cNvPr name="Group 30" id="30"/>
          <p:cNvGrpSpPr/>
          <p:nvPr/>
        </p:nvGrpSpPr>
        <p:grpSpPr>
          <a:xfrm rot="0">
            <a:off x="12048715" y="8148457"/>
            <a:ext cx="5338039" cy="1231478"/>
            <a:chOff x="0" y="0"/>
            <a:chExt cx="7117385" cy="1641970"/>
          </a:xfrm>
        </p:grpSpPr>
        <p:sp>
          <p:nvSpPr>
            <p:cNvPr name="Freeform 31" id="31"/>
            <p:cNvSpPr/>
            <p:nvPr/>
          </p:nvSpPr>
          <p:spPr>
            <a:xfrm flipH="false" flipV="false" rot="0">
              <a:off x="0" y="0"/>
              <a:ext cx="7117334" cy="1641983"/>
            </a:xfrm>
            <a:custGeom>
              <a:avLst/>
              <a:gdLst/>
              <a:ahLst/>
              <a:cxnLst/>
              <a:rect r="r" b="b" t="t" l="l"/>
              <a:pathLst>
                <a:path h="1641983" w="7117334">
                  <a:moveTo>
                    <a:pt x="0" y="0"/>
                  </a:moveTo>
                  <a:lnTo>
                    <a:pt x="7117334" y="0"/>
                  </a:lnTo>
                  <a:lnTo>
                    <a:pt x="7117334" y="1641983"/>
                  </a:lnTo>
                  <a:lnTo>
                    <a:pt x="0" y="1641983"/>
                  </a:lnTo>
                  <a:close/>
                </a:path>
              </a:pathLst>
            </a:custGeom>
            <a:solidFill>
              <a:srgbClr val="0E1F40"/>
            </a:solidFill>
          </p:spPr>
        </p:sp>
      </p:grpSp>
      <p:sp>
        <p:nvSpPr>
          <p:cNvPr name="TextBox 32" id="32"/>
          <p:cNvSpPr txBox="true"/>
          <p:nvPr/>
        </p:nvSpPr>
        <p:spPr>
          <a:xfrm rot="0">
            <a:off x="12315615" y="8304343"/>
            <a:ext cx="5071139"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ASSIGNMENT</a:t>
            </a:r>
          </a:p>
        </p:txBody>
      </p:sp>
      <p:sp>
        <p:nvSpPr>
          <p:cNvPr name="TextBox 33" id="33"/>
          <p:cNvSpPr txBox="true"/>
          <p:nvPr/>
        </p:nvSpPr>
        <p:spPr>
          <a:xfrm rot="0">
            <a:off x="12315615" y="8735635"/>
            <a:ext cx="5071139" cy="453647"/>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Category-based faculty assignment</a:t>
            </a:r>
          </a:p>
        </p:txBody>
      </p:sp>
      <p:grpSp>
        <p:nvGrpSpPr>
          <p:cNvPr name="Group 34" id="34"/>
          <p:cNvGrpSpPr/>
          <p:nvPr/>
        </p:nvGrpSpPr>
        <p:grpSpPr>
          <a:xfrm rot="0">
            <a:off x="6396114" y="3850215"/>
            <a:ext cx="19069" cy="4031332"/>
            <a:chOff x="0" y="0"/>
            <a:chExt cx="25425" cy="5375110"/>
          </a:xfrm>
        </p:grpSpPr>
        <p:sp>
          <p:nvSpPr>
            <p:cNvPr name="Freeform 35" id="35"/>
            <p:cNvSpPr/>
            <p:nvPr/>
          </p:nvSpPr>
          <p:spPr>
            <a:xfrm flipH="false" flipV="false" rot="0">
              <a:off x="0" y="0"/>
              <a:ext cx="25400" cy="5375148"/>
            </a:xfrm>
            <a:custGeom>
              <a:avLst/>
              <a:gdLst/>
              <a:ahLst/>
              <a:cxnLst/>
              <a:rect r="r" b="b" t="t" l="l"/>
              <a:pathLst>
                <a:path h="5375148" w="25400">
                  <a:moveTo>
                    <a:pt x="0" y="0"/>
                  </a:moveTo>
                  <a:lnTo>
                    <a:pt x="25400" y="0"/>
                  </a:lnTo>
                  <a:lnTo>
                    <a:pt x="25400" y="5375148"/>
                  </a:lnTo>
                  <a:lnTo>
                    <a:pt x="0" y="5375148"/>
                  </a:lnTo>
                  <a:close/>
                </a:path>
              </a:pathLst>
            </a:custGeom>
            <a:solidFill>
              <a:srgbClr val="3F3F3F"/>
            </a:solidFill>
          </p:spPr>
        </p:sp>
      </p:grpSp>
      <p:grpSp>
        <p:nvGrpSpPr>
          <p:cNvPr name="Group 36" id="36"/>
          <p:cNvGrpSpPr/>
          <p:nvPr/>
        </p:nvGrpSpPr>
        <p:grpSpPr>
          <a:xfrm rot="0">
            <a:off x="11886667" y="3850215"/>
            <a:ext cx="19069" cy="4031332"/>
            <a:chOff x="0" y="0"/>
            <a:chExt cx="25425" cy="5375110"/>
          </a:xfrm>
        </p:grpSpPr>
        <p:sp>
          <p:nvSpPr>
            <p:cNvPr name="Freeform 37" id="37"/>
            <p:cNvSpPr/>
            <p:nvPr/>
          </p:nvSpPr>
          <p:spPr>
            <a:xfrm flipH="false" flipV="false" rot="0">
              <a:off x="0" y="0"/>
              <a:ext cx="25400" cy="5375148"/>
            </a:xfrm>
            <a:custGeom>
              <a:avLst/>
              <a:gdLst/>
              <a:ahLst/>
              <a:cxnLst/>
              <a:rect r="r" b="b" t="t" l="l"/>
              <a:pathLst>
                <a:path h="5375148" w="25400">
                  <a:moveTo>
                    <a:pt x="0" y="0"/>
                  </a:moveTo>
                  <a:lnTo>
                    <a:pt x="25400" y="0"/>
                  </a:lnTo>
                  <a:lnTo>
                    <a:pt x="25400" y="5375148"/>
                  </a:lnTo>
                  <a:lnTo>
                    <a:pt x="0" y="5375148"/>
                  </a:lnTo>
                  <a:close/>
                </a:path>
              </a:pathLst>
            </a:custGeom>
            <a:solidFill>
              <a:srgbClr val="3F3F3F"/>
            </a:solidFill>
          </p:spPr>
        </p:sp>
      </p:grpSp>
      <p:grpSp>
        <p:nvGrpSpPr>
          <p:cNvPr name="Group 38" id="38"/>
          <p:cNvGrpSpPr/>
          <p:nvPr/>
        </p:nvGrpSpPr>
        <p:grpSpPr>
          <a:xfrm rot="0">
            <a:off x="17743313" y="9695393"/>
            <a:ext cx="558527" cy="284188"/>
            <a:chOff x="0" y="0"/>
            <a:chExt cx="744703" cy="378917"/>
          </a:xfrm>
        </p:grpSpPr>
        <p:sp>
          <p:nvSpPr>
            <p:cNvPr name="Freeform 39" id="39"/>
            <p:cNvSpPr/>
            <p:nvPr/>
          </p:nvSpPr>
          <p:spPr>
            <a:xfrm flipH="false" flipV="false" rot="0">
              <a:off x="0" y="0"/>
              <a:ext cx="744704" cy="378914"/>
            </a:xfrm>
            <a:custGeom>
              <a:avLst/>
              <a:gdLst/>
              <a:ahLst/>
              <a:cxnLst/>
              <a:rect r="r" b="b" t="t" l="l"/>
              <a:pathLst>
                <a:path h="378914" w="744704">
                  <a:moveTo>
                    <a:pt x="0" y="0"/>
                  </a:moveTo>
                  <a:lnTo>
                    <a:pt x="744704" y="0"/>
                  </a:lnTo>
                  <a:lnTo>
                    <a:pt x="744704" y="378914"/>
                  </a:lnTo>
                  <a:lnTo>
                    <a:pt x="0" y="378914"/>
                  </a:lnTo>
                  <a:close/>
                </a:path>
              </a:pathLst>
            </a:custGeom>
            <a:blipFill>
              <a:blip r:embed="rId6">
                <a:alphaModFix amt="0"/>
              </a:blip>
              <a:stretch>
                <a:fillRect l="-15282" t="0" r="-15282" b="0"/>
              </a:stretch>
            </a:blipFill>
          </p:spPr>
        </p:sp>
        <p:sp>
          <p:nvSpPr>
            <p:cNvPr name="TextBox 40" id="40"/>
            <p:cNvSpPr txBox="true"/>
            <p:nvPr/>
          </p:nvSpPr>
          <p:spPr>
            <a:xfrm>
              <a:off x="0" y="-47625"/>
              <a:ext cx="744703" cy="426542"/>
            </a:xfrm>
            <a:prstGeom prst="rect">
              <a:avLst/>
            </a:prstGeom>
          </p:spPr>
          <p:txBody>
            <a:bodyPr anchor="ctr" rtlCol="false" tIns="0" lIns="0" bIns="0" rIns="0"/>
            <a:lstStyle/>
            <a:p>
              <a:pPr algn="l">
                <a:lnSpc>
                  <a:spcPts val="2231"/>
                </a:lnSpc>
              </a:pPr>
              <a:r>
                <a:rPr lang="en-US" sz="1576" spc="126">
                  <a:solidFill>
                    <a:srgbClr val="9D9D9D"/>
                  </a:solidFill>
                  <a:latin typeface="Arimo"/>
                  <a:ea typeface="Arimo"/>
                  <a:cs typeface="Arimo"/>
                  <a:sym typeface="Arimo"/>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sp>
        <p:nvSpPr>
          <p:cNvPr name="TextBox 2" id="2"/>
          <p:cNvSpPr txBox="true"/>
          <p:nvPr/>
        </p:nvSpPr>
        <p:spPr>
          <a:xfrm rot="0">
            <a:off x="915095" y="880348"/>
            <a:ext cx="17386744" cy="310667"/>
          </a:xfrm>
          <a:prstGeom prst="rect">
            <a:avLst/>
          </a:prstGeom>
        </p:spPr>
        <p:txBody>
          <a:bodyPr anchor="t" rtlCol="false" tIns="0" lIns="0" bIns="0" rIns="0">
            <a:spAutoFit/>
          </a:bodyPr>
          <a:lstStyle/>
          <a:p>
            <a:pPr algn="l">
              <a:lnSpc>
                <a:spcPts val="2140"/>
              </a:lnSpc>
            </a:pPr>
            <a:r>
              <a:rPr lang="en-US" sz="1651" spc="139">
                <a:solidFill>
                  <a:srgbClr val="B5B5B5"/>
                </a:solidFill>
                <a:latin typeface="Arimo"/>
                <a:ea typeface="Arimo"/>
                <a:cs typeface="Arimo"/>
                <a:sym typeface="Arimo"/>
              </a:rPr>
              <a:t>RETRIEVAL-AUGMENTED GENERATION</a:t>
            </a:r>
          </a:p>
        </p:txBody>
      </p:sp>
      <p:sp>
        <p:nvSpPr>
          <p:cNvPr name="TextBox 3" id="3"/>
          <p:cNvSpPr txBox="true"/>
          <p:nvPr/>
        </p:nvSpPr>
        <p:spPr>
          <a:xfrm rot="0">
            <a:off x="915095" y="1444619"/>
            <a:ext cx="16471659" cy="1718882"/>
          </a:xfrm>
          <a:prstGeom prst="rect">
            <a:avLst/>
          </a:prstGeom>
        </p:spPr>
        <p:txBody>
          <a:bodyPr anchor="t" rtlCol="false" tIns="0" lIns="0" bIns="0" rIns="0">
            <a:spAutoFit/>
          </a:bodyPr>
          <a:lstStyle/>
          <a:p>
            <a:pPr algn="l">
              <a:lnSpc>
                <a:spcPts val="7054"/>
              </a:lnSpc>
            </a:pPr>
            <a:r>
              <a:rPr lang="en-US" sz="6605" spc="-79">
                <a:solidFill>
                  <a:srgbClr val="ECECEC"/>
                </a:solidFill>
                <a:latin typeface="Exo 2"/>
                <a:ea typeface="Exo 2"/>
                <a:cs typeface="Exo 2"/>
                <a:sym typeface="Exo 2"/>
              </a:rPr>
              <a:t>RAG turns uploaded documents into grounded answers</a:t>
            </a:r>
          </a:p>
        </p:txBody>
      </p:sp>
      <p:grpSp>
        <p:nvGrpSpPr>
          <p:cNvPr name="Group 4" id="4"/>
          <p:cNvGrpSpPr/>
          <p:nvPr/>
        </p:nvGrpSpPr>
        <p:grpSpPr>
          <a:xfrm rot="0">
            <a:off x="915095" y="3466538"/>
            <a:ext cx="4117915" cy="47511"/>
            <a:chOff x="0" y="0"/>
            <a:chExt cx="5490553" cy="63348"/>
          </a:xfrm>
        </p:grpSpPr>
        <p:sp>
          <p:nvSpPr>
            <p:cNvPr name="Freeform 5" id="5"/>
            <p:cNvSpPr/>
            <p:nvPr/>
          </p:nvSpPr>
          <p:spPr>
            <a:xfrm flipH="false" flipV="false" rot="0">
              <a:off x="0" y="0"/>
              <a:ext cx="5490464" cy="63247"/>
            </a:xfrm>
            <a:custGeom>
              <a:avLst/>
              <a:gdLst/>
              <a:ahLst/>
              <a:cxnLst/>
              <a:rect r="r" b="b" t="t" l="l"/>
              <a:pathLst>
                <a:path h="63247" w="5490464">
                  <a:moveTo>
                    <a:pt x="0" y="31623"/>
                  </a:moveTo>
                  <a:cubicBezTo>
                    <a:pt x="0" y="14224"/>
                    <a:pt x="14224" y="0"/>
                    <a:pt x="31623" y="0"/>
                  </a:cubicBezTo>
                  <a:lnTo>
                    <a:pt x="5458841" y="0"/>
                  </a:lnTo>
                  <a:cubicBezTo>
                    <a:pt x="5476367" y="0"/>
                    <a:pt x="5490464" y="14224"/>
                    <a:pt x="5490464" y="31623"/>
                  </a:cubicBezTo>
                  <a:cubicBezTo>
                    <a:pt x="5490464" y="49149"/>
                    <a:pt x="5476240" y="63246"/>
                    <a:pt x="5458841" y="63246"/>
                  </a:cubicBezTo>
                  <a:lnTo>
                    <a:pt x="31623" y="63246"/>
                  </a:lnTo>
                  <a:cubicBezTo>
                    <a:pt x="14224" y="63373"/>
                    <a:pt x="0" y="49149"/>
                    <a:pt x="0" y="31623"/>
                  </a:cubicBezTo>
                  <a:close/>
                </a:path>
              </a:pathLst>
            </a:custGeom>
            <a:solidFill>
              <a:srgbClr val="9BE1FF"/>
            </a:solidFill>
          </p:spPr>
        </p:sp>
      </p:grpSp>
      <p:sp>
        <p:nvSpPr>
          <p:cNvPr name="TextBox 6" id="6"/>
          <p:cNvSpPr txBox="true"/>
          <p:nvPr/>
        </p:nvSpPr>
        <p:spPr>
          <a:xfrm rot="0">
            <a:off x="915095" y="3888315"/>
            <a:ext cx="1206570" cy="247869"/>
          </a:xfrm>
          <a:prstGeom prst="rect">
            <a:avLst/>
          </a:prstGeom>
        </p:spPr>
        <p:txBody>
          <a:bodyPr anchor="t" rtlCol="false" tIns="0" lIns="0" bIns="0" rIns="0">
            <a:spAutoFit/>
          </a:bodyPr>
          <a:lstStyle/>
          <a:p>
            <a:pPr algn="l">
              <a:lnSpc>
                <a:spcPts val="2242"/>
              </a:lnSpc>
            </a:pPr>
            <a:r>
              <a:rPr lang="en-US" sz="2251">
                <a:solidFill>
                  <a:srgbClr val="9BE1FF"/>
                </a:solidFill>
                <a:latin typeface="Exo 2"/>
                <a:ea typeface="Exo 2"/>
                <a:cs typeface="Exo 2"/>
                <a:sym typeface="Exo 2"/>
              </a:rPr>
              <a:t>01</a:t>
            </a:r>
          </a:p>
        </p:txBody>
      </p:sp>
      <p:grpSp>
        <p:nvGrpSpPr>
          <p:cNvPr name="Group 7" id="7"/>
          <p:cNvGrpSpPr/>
          <p:nvPr/>
        </p:nvGrpSpPr>
        <p:grpSpPr>
          <a:xfrm rot="0">
            <a:off x="915095" y="4250579"/>
            <a:ext cx="2928176" cy="28594"/>
            <a:chOff x="0" y="0"/>
            <a:chExt cx="3904234" cy="38125"/>
          </a:xfrm>
        </p:grpSpPr>
        <p:sp>
          <p:nvSpPr>
            <p:cNvPr name="Freeform 8" id="8"/>
            <p:cNvSpPr/>
            <p:nvPr/>
          </p:nvSpPr>
          <p:spPr>
            <a:xfrm flipH="false" flipV="false" rot="0">
              <a:off x="0" y="0"/>
              <a:ext cx="3904234" cy="38100"/>
            </a:xfrm>
            <a:custGeom>
              <a:avLst/>
              <a:gdLst/>
              <a:ahLst/>
              <a:cxnLst/>
              <a:rect r="r" b="b" t="t" l="l"/>
              <a:pathLst>
                <a:path h="38100" w="3904234">
                  <a:moveTo>
                    <a:pt x="0" y="0"/>
                  </a:moveTo>
                  <a:lnTo>
                    <a:pt x="3904234" y="0"/>
                  </a:lnTo>
                  <a:lnTo>
                    <a:pt x="3904234" y="38100"/>
                  </a:lnTo>
                  <a:lnTo>
                    <a:pt x="0" y="38100"/>
                  </a:lnTo>
                  <a:close/>
                </a:path>
              </a:pathLst>
            </a:custGeom>
            <a:solidFill>
              <a:srgbClr val="9BE1FF"/>
            </a:solidFill>
          </p:spPr>
        </p:sp>
      </p:grpSp>
      <p:sp>
        <p:nvSpPr>
          <p:cNvPr name="TextBox 9" id="9"/>
          <p:cNvSpPr txBox="true"/>
          <p:nvPr/>
        </p:nvSpPr>
        <p:spPr>
          <a:xfrm rot="0">
            <a:off x="915095" y="4414657"/>
            <a:ext cx="2928328" cy="994324"/>
          </a:xfrm>
          <a:prstGeom prst="rect">
            <a:avLst/>
          </a:prstGeom>
        </p:spPr>
        <p:txBody>
          <a:bodyPr anchor="t" rtlCol="false" tIns="0" lIns="0" bIns="0" rIns="0">
            <a:spAutoFit/>
          </a:bodyPr>
          <a:lstStyle/>
          <a:p>
            <a:pPr algn="l">
              <a:lnSpc>
                <a:spcPts val="3764"/>
              </a:lnSpc>
            </a:pPr>
            <a:r>
              <a:rPr lang="en-US" sz="2852">
                <a:solidFill>
                  <a:srgbClr val="D5D5D5"/>
                </a:solidFill>
                <a:latin typeface="Exo 2"/>
                <a:ea typeface="Exo 2"/>
                <a:cs typeface="Exo 2"/>
                <a:sym typeface="Exo 2"/>
              </a:rPr>
              <a:t>Authorized upload</a:t>
            </a:r>
          </a:p>
        </p:txBody>
      </p:sp>
      <p:sp>
        <p:nvSpPr>
          <p:cNvPr name="TextBox 10" id="10"/>
          <p:cNvSpPr txBox="true"/>
          <p:nvPr/>
        </p:nvSpPr>
        <p:spPr>
          <a:xfrm rot="0">
            <a:off x="915095" y="5573839"/>
            <a:ext cx="2928328"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Administrator uploads PDF, TXT, or DOCX.</a:t>
            </a:r>
          </a:p>
        </p:txBody>
      </p:sp>
      <p:sp>
        <p:nvSpPr>
          <p:cNvPr name="TextBox 11" id="11"/>
          <p:cNvSpPr txBox="true"/>
          <p:nvPr/>
        </p:nvSpPr>
        <p:spPr>
          <a:xfrm rot="0">
            <a:off x="4300814" y="3888315"/>
            <a:ext cx="1269425" cy="247869"/>
          </a:xfrm>
          <a:prstGeom prst="rect">
            <a:avLst/>
          </a:prstGeom>
        </p:spPr>
        <p:txBody>
          <a:bodyPr anchor="t" rtlCol="false" tIns="0" lIns="0" bIns="0" rIns="0">
            <a:spAutoFit/>
          </a:bodyPr>
          <a:lstStyle/>
          <a:p>
            <a:pPr algn="l">
              <a:lnSpc>
                <a:spcPts val="2242"/>
              </a:lnSpc>
            </a:pPr>
            <a:r>
              <a:rPr lang="en-US" sz="2251">
                <a:solidFill>
                  <a:srgbClr val="9BE1FF"/>
                </a:solidFill>
                <a:latin typeface="Exo 2"/>
                <a:ea typeface="Exo 2"/>
                <a:cs typeface="Exo 2"/>
                <a:sym typeface="Exo 2"/>
              </a:rPr>
              <a:t>02</a:t>
            </a:r>
          </a:p>
        </p:txBody>
      </p:sp>
      <p:grpSp>
        <p:nvGrpSpPr>
          <p:cNvPr name="Group 12" id="12"/>
          <p:cNvGrpSpPr/>
          <p:nvPr/>
        </p:nvGrpSpPr>
        <p:grpSpPr>
          <a:xfrm rot="0">
            <a:off x="4300814" y="4250579"/>
            <a:ext cx="2928176" cy="28594"/>
            <a:chOff x="0" y="0"/>
            <a:chExt cx="3904234" cy="38125"/>
          </a:xfrm>
        </p:grpSpPr>
        <p:sp>
          <p:nvSpPr>
            <p:cNvPr name="Freeform 13" id="13"/>
            <p:cNvSpPr/>
            <p:nvPr/>
          </p:nvSpPr>
          <p:spPr>
            <a:xfrm flipH="false" flipV="false" rot="0">
              <a:off x="0" y="0"/>
              <a:ext cx="3904234" cy="38100"/>
            </a:xfrm>
            <a:custGeom>
              <a:avLst/>
              <a:gdLst/>
              <a:ahLst/>
              <a:cxnLst/>
              <a:rect r="r" b="b" t="t" l="l"/>
              <a:pathLst>
                <a:path h="38100" w="3904234">
                  <a:moveTo>
                    <a:pt x="0" y="0"/>
                  </a:moveTo>
                  <a:lnTo>
                    <a:pt x="3904234" y="0"/>
                  </a:lnTo>
                  <a:lnTo>
                    <a:pt x="3904234" y="38100"/>
                  </a:lnTo>
                  <a:lnTo>
                    <a:pt x="0" y="38100"/>
                  </a:lnTo>
                  <a:close/>
                </a:path>
              </a:pathLst>
            </a:custGeom>
            <a:solidFill>
              <a:srgbClr val="9BE1FF"/>
            </a:solidFill>
          </p:spPr>
        </p:sp>
      </p:grpSp>
      <p:sp>
        <p:nvSpPr>
          <p:cNvPr name="TextBox 14" id="14"/>
          <p:cNvSpPr txBox="true"/>
          <p:nvPr/>
        </p:nvSpPr>
        <p:spPr>
          <a:xfrm rot="0">
            <a:off x="4300814" y="4414657"/>
            <a:ext cx="2928328" cy="516207"/>
          </a:xfrm>
          <a:prstGeom prst="rect">
            <a:avLst/>
          </a:prstGeom>
        </p:spPr>
        <p:txBody>
          <a:bodyPr anchor="t" rtlCol="false" tIns="0" lIns="0" bIns="0" rIns="0">
            <a:spAutoFit/>
          </a:bodyPr>
          <a:lstStyle/>
          <a:p>
            <a:pPr algn="l">
              <a:lnSpc>
                <a:spcPts val="3764"/>
              </a:lnSpc>
            </a:pPr>
            <a:r>
              <a:rPr lang="en-US" sz="2852">
                <a:solidFill>
                  <a:srgbClr val="D5D5D5"/>
                </a:solidFill>
                <a:latin typeface="Exo 2"/>
                <a:ea typeface="Exo 2"/>
                <a:cs typeface="Exo 2"/>
                <a:sym typeface="Exo 2"/>
              </a:rPr>
              <a:t>Extraction</a:t>
            </a:r>
          </a:p>
        </p:txBody>
      </p:sp>
      <p:sp>
        <p:nvSpPr>
          <p:cNvPr name="TextBox 15" id="15"/>
          <p:cNvSpPr txBox="true"/>
          <p:nvPr/>
        </p:nvSpPr>
        <p:spPr>
          <a:xfrm rot="0">
            <a:off x="4300814" y="5095723"/>
            <a:ext cx="2928328"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Backend extracts text and relevant metadata.</a:t>
            </a:r>
          </a:p>
        </p:txBody>
      </p:sp>
      <p:sp>
        <p:nvSpPr>
          <p:cNvPr name="TextBox 16" id="16"/>
          <p:cNvSpPr txBox="true"/>
          <p:nvPr/>
        </p:nvSpPr>
        <p:spPr>
          <a:xfrm rot="0">
            <a:off x="7686532" y="3888315"/>
            <a:ext cx="1267187" cy="247869"/>
          </a:xfrm>
          <a:prstGeom prst="rect">
            <a:avLst/>
          </a:prstGeom>
        </p:spPr>
        <p:txBody>
          <a:bodyPr anchor="t" rtlCol="false" tIns="0" lIns="0" bIns="0" rIns="0">
            <a:spAutoFit/>
          </a:bodyPr>
          <a:lstStyle/>
          <a:p>
            <a:pPr algn="l">
              <a:lnSpc>
                <a:spcPts val="2242"/>
              </a:lnSpc>
            </a:pPr>
            <a:r>
              <a:rPr lang="en-US" sz="2251">
                <a:solidFill>
                  <a:srgbClr val="9BE1FF"/>
                </a:solidFill>
                <a:latin typeface="Exo 2"/>
                <a:ea typeface="Exo 2"/>
                <a:cs typeface="Exo 2"/>
                <a:sym typeface="Exo 2"/>
              </a:rPr>
              <a:t>03</a:t>
            </a:r>
          </a:p>
        </p:txBody>
      </p:sp>
      <p:grpSp>
        <p:nvGrpSpPr>
          <p:cNvPr name="Group 17" id="17"/>
          <p:cNvGrpSpPr/>
          <p:nvPr/>
        </p:nvGrpSpPr>
        <p:grpSpPr>
          <a:xfrm rot="0">
            <a:off x="7686532" y="4250579"/>
            <a:ext cx="2928623" cy="28594"/>
            <a:chOff x="0" y="0"/>
            <a:chExt cx="3904831" cy="38125"/>
          </a:xfrm>
        </p:grpSpPr>
        <p:sp>
          <p:nvSpPr>
            <p:cNvPr name="Freeform 18" id="18"/>
            <p:cNvSpPr/>
            <p:nvPr/>
          </p:nvSpPr>
          <p:spPr>
            <a:xfrm flipH="false" flipV="false" rot="0">
              <a:off x="0" y="0"/>
              <a:ext cx="3904869" cy="38100"/>
            </a:xfrm>
            <a:custGeom>
              <a:avLst/>
              <a:gdLst/>
              <a:ahLst/>
              <a:cxnLst/>
              <a:rect r="r" b="b" t="t" l="l"/>
              <a:pathLst>
                <a:path h="38100" w="3904869">
                  <a:moveTo>
                    <a:pt x="0" y="0"/>
                  </a:moveTo>
                  <a:lnTo>
                    <a:pt x="3904869" y="0"/>
                  </a:lnTo>
                  <a:lnTo>
                    <a:pt x="3904869" y="38100"/>
                  </a:lnTo>
                  <a:lnTo>
                    <a:pt x="0" y="38100"/>
                  </a:lnTo>
                  <a:close/>
                </a:path>
              </a:pathLst>
            </a:custGeom>
            <a:solidFill>
              <a:srgbClr val="9BE1FF"/>
            </a:solidFill>
          </p:spPr>
        </p:sp>
      </p:grpSp>
      <p:sp>
        <p:nvSpPr>
          <p:cNvPr name="TextBox 19" id="19"/>
          <p:cNvSpPr txBox="true"/>
          <p:nvPr/>
        </p:nvSpPr>
        <p:spPr>
          <a:xfrm rot="0">
            <a:off x="7686532" y="4414657"/>
            <a:ext cx="2928623" cy="516207"/>
          </a:xfrm>
          <a:prstGeom prst="rect">
            <a:avLst/>
          </a:prstGeom>
        </p:spPr>
        <p:txBody>
          <a:bodyPr anchor="t" rtlCol="false" tIns="0" lIns="0" bIns="0" rIns="0">
            <a:spAutoFit/>
          </a:bodyPr>
          <a:lstStyle/>
          <a:p>
            <a:pPr algn="l">
              <a:lnSpc>
                <a:spcPts val="3764"/>
              </a:lnSpc>
            </a:pPr>
            <a:r>
              <a:rPr lang="en-US" sz="2852">
                <a:solidFill>
                  <a:srgbClr val="D5D5D5"/>
                </a:solidFill>
                <a:latin typeface="Exo 2"/>
                <a:ea typeface="Exo 2"/>
                <a:cs typeface="Exo 2"/>
                <a:sym typeface="Exo 2"/>
              </a:rPr>
              <a:t>Chunking</a:t>
            </a:r>
          </a:p>
        </p:txBody>
      </p:sp>
      <p:sp>
        <p:nvSpPr>
          <p:cNvPr name="TextBox 20" id="20"/>
          <p:cNvSpPr txBox="true"/>
          <p:nvPr/>
        </p:nvSpPr>
        <p:spPr>
          <a:xfrm rot="0">
            <a:off x="7686532" y="5095723"/>
            <a:ext cx="2928623"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Approximately 650 words with 100 words of overlap.</a:t>
            </a:r>
          </a:p>
        </p:txBody>
      </p:sp>
      <p:sp>
        <p:nvSpPr>
          <p:cNvPr name="TextBox 21" id="21"/>
          <p:cNvSpPr txBox="true"/>
          <p:nvPr/>
        </p:nvSpPr>
        <p:spPr>
          <a:xfrm rot="0">
            <a:off x="11072555" y="3888315"/>
            <a:ext cx="1275531" cy="247869"/>
          </a:xfrm>
          <a:prstGeom prst="rect">
            <a:avLst/>
          </a:prstGeom>
        </p:spPr>
        <p:txBody>
          <a:bodyPr anchor="t" rtlCol="false" tIns="0" lIns="0" bIns="0" rIns="0">
            <a:spAutoFit/>
          </a:bodyPr>
          <a:lstStyle/>
          <a:p>
            <a:pPr algn="l">
              <a:lnSpc>
                <a:spcPts val="2242"/>
              </a:lnSpc>
            </a:pPr>
            <a:r>
              <a:rPr lang="en-US" sz="2251">
                <a:solidFill>
                  <a:srgbClr val="9BE1FF"/>
                </a:solidFill>
                <a:latin typeface="Exo 2"/>
                <a:ea typeface="Exo 2"/>
                <a:cs typeface="Exo 2"/>
                <a:sym typeface="Exo 2"/>
              </a:rPr>
              <a:t>04</a:t>
            </a:r>
          </a:p>
        </p:txBody>
      </p:sp>
      <p:grpSp>
        <p:nvGrpSpPr>
          <p:cNvPr name="Group 22" id="22"/>
          <p:cNvGrpSpPr/>
          <p:nvPr/>
        </p:nvGrpSpPr>
        <p:grpSpPr>
          <a:xfrm rot="0">
            <a:off x="11072555" y="4250579"/>
            <a:ext cx="2928176" cy="28594"/>
            <a:chOff x="0" y="0"/>
            <a:chExt cx="3904234" cy="38125"/>
          </a:xfrm>
        </p:grpSpPr>
        <p:sp>
          <p:nvSpPr>
            <p:cNvPr name="Freeform 23" id="23"/>
            <p:cNvSpPr/>
            <p:nvPr/>
          </p:nvSpPr>
          <p:spPr>
            <a:xfrm flipH="false" flipV="false" rot="0">
              <a:off x="0" y="0"/>
              <a:ext cx="3904234" cy="38100"/>
            </a:xfrm>
            <a:custGeom>
              <a:avLst/>
              <a:gdLst/>
              <a:ahLst/>
              <a:cxnLst/>
              <a:rect r="r" b="b" t="t" l="l"/>
              <a:pathLst>
                <a:path h="38100" w="3904234">
                  <a:moveTo>
                    <a:pt x="0" y="0"/>
                  </a:moveTo>
                  <a:lnTo>
                    <a:pt x="3904234" y="0"/>
                  </a:lnTo>
                  <a:lnTo>
                    <a:pt x="3904234" y="38100"/>
                  </a:lnTo>
                  <a:lnTo>
                    <a:pt x="0" y="38100"/>
                  </a:lnTo>
                  <a:close/>
                </a:path>
              </a:pathLst>
            </a:custGeom>
            <a:solidFill>
              <a:srgbClr val="9BE1FF"/>
            </a:solidFill>
          </p:spPr>
        </p:sp>
      </p:grpSp>
      <p:sp>
        <p:nvSpPr>
          <p:cNvPr name="TextBox 24" id="24"/>
          <p:cNvSpPr txBox="true"/>
          <p:nvPr/>
        </p:nvSpPr>
        <p:spPr>
          <a:xfrm rot="0">
            <a:off x="11072555" y="4414657"/>
            <a:ext cx="2928328" cy="516207"/>
          </a:xfrm>
          <a:prstGeom prst="rect">
            <a:avLst/>
          </a:prstGeom>
        </p:spPr>
        <p:txBody>
          <a:bodyPr anchor="t" rtlCol="false" tIns="0" lIns="0" bIns="0" rIns="0">
            <a:spAutoFit/>
          </a:bodyPr>
          <a:lstStyle/>
          <a:p>
            <a:pPr algn="l">
              <a:lnSpc>
                <a:spcPts val="3764"/>
              </a:lnSpc>
            </a:pPr>
            <a:r>
              <a:rPr lang="en-US" sz="2852">
                <a:solidFill>
                  <a:srgbClr val="D5D5D5"/>
                </a:solidFill>
                <a:latin typeface="Exo 2"/>
                <a:ea typeface="Exo 2"/>
                <a:cs typeface="Exo 2"/>
                <a:sym typeface="Exo 2"/>
              </a:rPr>
              <a:t>Embeddings</a:t>
            </a:r>
          </a:p>
        </p:txBody>
      </p:sp>
      <p:sp>
        <p:nvSpPr>
          <p:cNvPr name="TextBox 25" id="25"/>
          <p:cNvSpPr txBox="true"/>
          <p:nvPr/>
        </p:nvSpPr>
        <p:spPr>
          <a:xfrm rot="0">
            <a:off x="11072555" y="5095723"/>
            <a:ext cx="2928328" cy="1671714"/>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all-MiniLM-L6-v2 creates 384-dimensional embeddings.</a:t>
            </a:r>
          </a:p>
        </p:txBody>
      </p:sp>
      <p:sp>
        <p:nvSpPr>
          <p:cNvPr name="TextBox 26" id="26"/>
          <p:cNvSpPr txBox="true"/>
          <p:nvPr/>
        </p:nvSpPr>
        <p:spPr>
          <a:xfrm rot="0">
            <a:off x="14458274" y="3888315"/>
            <a:ext cx="1277169" cy="247869"/>
          </a:xfrm>
          <a:prstGeom prst="rect">
            <a:avLst/>
          </a:prstGeom>
        </p:spPr>
        <p:txBody>
          <a:bodyPr anchor="t" rtlCol="false" tIns="0" lIns="0" bIns="0" rIns="0">
            <a:spAutoFit/>
          </a:bodyPr>
          <a:lstStyle/>
          <a:p>
            <a:pPr algn="l">
              <a:lnSpc>
                <a:spcPts val="2242"/>
              </a:lnSpc>
            </a:pPr>
            <a:r>
              <a:rPr lang="en-US" sz="2251">
                <a:solidFill>
                  <a:srgbClr val="9BE1FF"/>
                </a:solidFill>
                <a:latin typeface="Exo 2"/>
                <a:ea typeface="Exo 2"/>
                <a:cs typeface="Exo 2"/>
                <a:sym typeface="Exo 2"/>
              </a:rPr>
              <a:t>05</a:t>
            </a:r>
          </a:p>
        </p:txBody>
      </p:sp>
      <p:grpSp>
        <p:nvGrpSpPr>
          <p:cNvPr name="Group 27" id="27"/>
          <p:cNvGrpSpPr/>
          <p:nvPr/>
        </p:nvGrpSpPr>
        <p:grpSpPr>
          <a:xfrm rot="0">
            <a:off x="14458274" y="4250579"/>
            <a:ext cx="2928328" cy="28594"/>
            <a:chOff x="0" y="0"/>
            <a:chExt cx="3904437" cy="38125"/>
          </a:xfrm>
        </p:grpSpPr>
        <p:sp>
          <p:nvSpPr>
            <p:cNvPr name="Freeform 28" id="28"/>
            <p:cNvSpPr/>
            <p:nvPr/>
          </p:nvSpPr>
          <p:spPr>
            <a:xfrm flipH="false" flipV="false" rot="0">
              <a:off x="0" y="0"/>
              <a:ext cx="3904488" cy="38100"/>
            </a:xfrm>
            <a:custGeom>
              <a:avLst/>
              <a:gdLst/>
              <a:ahLst/>
              <a:cxnLst/>
              <a:rect r="r" b="b" t="t" l="l"/>
              <a:pathLst>
                <a:path h="38100" w="3904488">
                  <a:moveTo>
                    <a:pt x="0" y="0"/>
                  </a:moveTo>
                  <a:lnTo>
                    <a:pt x="3904488" y="0"/>
                  </a:lnTo>
                  <a:lnTo>
                    <a:pt x="3904488" y="38100"/>
                  </a:lnTo>
                  <a:lnTo>
                    <a:pt x="0" y="38100"/>
                  </a:lnTo>
                  <a:close/>
                </a:path>
              </a:pathLst>
            </a:custGeom>
            <a:solidFill>
              <a:srgbClr val="9BE1FF"/>
            </a:solidFill>
          </p:spPr>
        </p:sp>
      </p:grpSp>
      <p:sp>
        <p:nvSpPr>
          <p:cNvPr name="TextBox 29" id="29"/>
          <p:cNvSpPr txBox="true"/>
          <p:nvPr/>
        </p:nvSpPr>
        <p:spPr>
          <a:xfrm rot="0">
            <a:off x="14458274" y="4414657"/>
            <a:ext cx="2928471" cy="516207"/>
          </a:xfrm>
          <a:prstGeom prst="rect">
            <a:avLst/>
          </a:prstGeom>
        </p:spPr>
        <p:txBody>
          <a:bodyPr anchor="t" rtlCol="false" tIns="0" lIns="0" bIns="0" rIns="0">
            <a:spAutoFit/>
          </a:bodyPr>
          <a:lstStyle/>
          <a:p>
            <a:pPr algn="l">
              <a:lnSpc>
                <a:spcPts val="3764"/>
              </a:lnSpc>
            </a:pPr>
            <a:r>
              <a:rPr lang="en-US" sz="2852">
                <a:solidFill>
                  <a:srgbClr val="D5D5D5"/>
                </a:solidFill>
                <a:latin typeface="Exo 2"/>
                <a:ea typeface="Exo 2"/>
                <a:cs typeface="Exo 2"/>
                <a:sym typeface="Exo 2"/>
              </a:rPr>
              <a:t>Vector store</a:t>
            </a:r>
          </a:p>
        </p:txBody>
      </p:sp>
      <p:sp>
        <p:nvSpPr>
          <p:cNvPr name="TextBox 30" id="30"/>
          <p:cNvSpPr txBox="true"/>
          <p:nvPr/>
        </p:nvSpPr>
        <p:spPr>
          <a:xfrm rot="0">
            <a:off x="14458274" y="5095723"/>
            <a:ext cx="2928471"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ChromaDB stores vectors and metadata for semantic retrieval.</a:t>
            </a:r>
          </a:p>
        </p:txBody>
      </p:sp>
      <p:grpSp>
        <p:nvGrpSpPr>
          <p:cNvPr name="Group 31" id="31"/>
          <p:cNvGrpSpPr/>
          <p:nvPr/>
        </p:nvGrpSpPr>
        <p:grpSpPr>
          <a:xfrm rot="0">
            <a:off x="915095" y="7106441"/>
            <a:ext cx="10142268" cy="2348560"/>
            <a:chOff x="0" y="0"/>
            <a:chExt cx="13523024" cy="3131414"/>
          </a:xfrm>
        </p:grpSpPr>
        <p:sp>
          <p:nvSpPr>
            <p:cNvPr name="Freeform 32" id="32"/>
            <p:cNvSpPr/>
            <p:nvPr/>
          </p:nvSpPr>
          <p:spPr>
            <a:xfrm flipH="false" flipV="false" rot="0">
              <a:off x="0" y="0"/>
              <a:ext cx="13523088" cy="3131439"/>
            </a:xfrm>
            <a:custGeom>
              <a:avLst/>
              <a:gdLst/>
              <a:ahLst/>
              <a:cxnLst/>
              <a:rect r="r" b="b" t="t" l="l"/>
              <a:pathLst>
                <a:path h="3131439" w="13523088">
                  <a:moveTo>
                    <a:pt x="0" y="0"/>
                  </a:moveTo>
                  <a:lnTo>
                    <a:pt x="13523088" y="0"/>
                  </a:lnTo>
                  <a:lnTo>
                    <a:pt x="13523088" y="3131439"/>
                  </a:lnTo>
                  <a:lnTo>
                    <a:pt x="0" y="3131439"/>
                  </a:lnTo>
                  <a:close/>
                </a:path>
              </a:pathLst>
            </a:custGeom>
            <a:solidFill>
              <a:srgbClr val="0E1F40"/>
            </a:solidFill>
          </p:spPr>
        </p:sp>
      </p:grpSp>
      <p:sp>
        <p:nvSpPr>
          <p:cNvPr name="TextBox 33" id="33"/>
          <p:cNvSpPr txBox="true"/>
          <p:nvPr/>
        </p:nvSpPr>
        <p:spPr>
          <a:xfrm rot="0">
            <a:off x="1334510" y="7414841"/>
            <a:ext cx="9722853" cy="310667"/>
          </a:xfrm>
          <a:prstGeom prst="rect">
            <a:avLst/>
          </a:prstGeom>
        </p:spPr>
        <p:txBody>
          <a:bodyPr anchor="t" rtlCol="false" tIns="0" lIns="0" bIns="0" rIns="0">
            <a:spAutoFit/>
          </a:bodyPr>
          <a:lstStyle/>
          <a:p>
            <a:pPr algn="l">
              <a:lnSpc>
                <a:spcPts val="2140"/>
              </a:lnSpc>
            </a:pPr>
            <a:r>
              <a:rPr lang="en-US" sz="1651" spc="139">
                <a:solidFill>
                  <a:srgbClr val="D5D5D5"/>
                </a:solidFill>
                <a:latin typeface="Arimo"/>
                <a:ea typeface="Arimo"/>
                <a:cs typeface="Arimo"/>
                <a:sym typeface="Arimo"/>
              </a:rPr>
              <a:t>QUESTION ANSWERING</a:t>
            </a:r>
          </a:p>
        </p:txBody>
      </p:sp>
      <p:sp>
        <p:nvSpPr>
          <p:cNvPr name="TextBox 34" id="34"/>
          <p:cNvSpPr txBox="true"/>
          <p:nvPr/>
        </p:nvSpPr>
        <p:spPr>
          <a:xfrm rot="0">
            <a:off x="1334510" y="7846133"/>
            <a:ext cx="9303439" cy="1265692"/>
          </a:xfrm>
          <a:prstGeom prst="rect">
            <a:avLst/>
          </a:prstGeom>
        </p:spPr>
        <p:txBody>
          <a:bodyPr anchor="t" rtlCol="false" tIns="0" lIns="0" bIns="0" rIns="0">
            <a:spAutoFit/>
          </a:bodyPr>
          <a:lstStyle/>
          <a:p>
            <a:pPr algn="l">
              <a:lnSpc>
                <a:spcPts val="3188"/>
              </a:lnSpc>
            </a:pPr>
            <a:r>
              <a:rPr lang="en-US" sz="2251">
                <a:solidFill>
                  <a:srgbClr val="D5D5D5"/>
                </a:solidFill>
                <a:latin typeface="Exo 2"/>
                <a:ea typeface="Exo 2"/>
                <a:cs typeface="Exo 2"/>
                <a:sym typeface="Exo 2"/>
              </a:rPr>
              <a:t>Student question → question embedding → relevant chunk retrieval → relevance check → Gemini answer generation → available source information</a:t>
            </a:r>
          </a:p>
        </p:txBody>
      </p:sp>
      <p:grpSp>
        <p:nvGrpSpPr>
          <p:cNvPr name="Group 35" id="35"/>
          <p:cNvGrpSpPr/>
          <p:nvPr/>
        </p:nvGrpSpPr>
        <p:grpSpPr>
          <a:xfrm rot="0">
            <a:off x="11514763" y="7106441"/>
            <a:ext cx="5871991" cy="2348560"/>
            <a:chOff x="0" y="0"/>
            <a:chExt cx="7829321" cy="3131414"/>
          </a:xfrm>
        </p:grpSpPr>
        <p:sp>
          <p:nvSpPr>
            <p:cNvPr name="Freeform 36" id="36"/>
            <p:cNvSpPr/>
            <p:nvPr/>
          </p:nvSpPr>
          <p:spPr>
            <a:xfrm flipH="false" flipV="false" rot="0">
              <a:off x="0" y="0"/>
              <a:ext cx="7829296" cy="3131439"/>
            </a:xfrm>
            <a:custGeom>
              <a:avLst/>
              <a:gdLst/>
              <a:ahLst/>
              <a:cxnLst/>
              <a:rect r="r" b="b" t="t" l="l"/>
              <a:pathLst>
                <a:path h="3131439" w="7829296">
                  <a:moveTo>
                    <a:pt x="0" y="0"/>
                  </a:moveTo>
                  <a:lnTo>
                    <a:pt x="7829296" y="0"/>
                  </a:lnTo>
                  <a:lnTo>
                    <a:pt x="7829296" y="3131439"/>
                  </a:lnTo>
                  <a:lnTo>
                    <a:pt x="0" y="3131439"/>
                  </a:lnTo>
                  <a:close/>
                </a:path>
              </a:pathLst>
            </a:custGeom>
            <a:solidFill>
              <a:srgbClr val="241B55"/>
            </a:solidFill>
          </p:spPr>
        </p:sp>
      </p:grpSp>
      <p:sp>
        <p:nvSpPr>
          <p:cNvPr name="TextBox 37" id="37"/>
          <p:cNvSpPr txBox="true"/>
          <p:nvPr/>
        </p:nvSpPr>
        <p:spPr>
          <a:xfrm rot="0">
            <a:off x="11934177" y="7414841"/>
            <a:ext cx="5452567"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GROUNDING</a:t>
            </a:r>
          </a:p>
        </p:txBody>
      </p:sp>
      <p:sp>
        <p:nvSpPr>
          <p:cNvPr name="TextBox 38" id="38"/>
          <p:cNvSpPr txBox="true"/>
          <p:nvPr/>
        </p:nvSpPr>
        <p:spPr>
          <a:xfrm rot="0">
            <a:off x="11934177" y="7846133"/>
            <a:ext cx="5033153" cy="1265692"/>
          </a:xfrm>
          <a:prstGeom prst="rect">
            <a:avLst/>
          </a:prstGeom>
        </p:spPr>
        <p:txBody>
          <a:bodyPr anchor="t" rtlCol="false" tIns="0" lIns="0" bIns="0" rIns="0">
            <a:spAutoFit/>
          </a:bodyPr>
          <a:lstStyle/>
          <a:p>
            <a:pPr algn="l">
              <a:lnSpc>
                <a:spcPts val="3188"/>
              </a:lnSpc>
            </a:pPr>
            <a:r>
              <a:rPr lang="en-US" sz="2251">
                <a:solidFill>
                  <a:srgbClr val="FFFFFF"/>
                </a:solidFill>
                <a:latin typeface="Exo 2"/>
                <a:ea typeface="Exo 2"/>
                <a:cs typeface="Exo 2"/>
                <a:sym typeface="Exo 2"/>
              </a:rPr>
              <a:t>RAG retrieves relevant knowledge before generation, helping ground answers in uploaded documents.</a:t>
            </a:r>
          </a:p>
        </p:txBody>
      </p:sp>
      <p:grpSp>
        <p:nvGrpSpPr>
          <p:cNvPr name="Group 39" id="39"/>
          <p:cNvGrpSpPr/>
          <p:nvPr/>
        </p:nvGrpSpPr>
        <p:grpSpPr>
          <a:xfrm rot="0">
            <a:off x="17743313" y="9695393"/>
            <a:ext cx="558527" cy="284188"/>
            <a:chOff x="0" y="0"/>
            <a:chExt cx="744703" cy="378917"/>
          </a:xfrm>
        </p:grpSpPr>
        <p:sp>
          <p:nvSpPr>
            <p:cNvPr name="Freeform 40" id="40"/>
            <p:cNvSpPr/>
            <p:nvPr/>
          </p:nvSpPr>
          <p:spPr>
            <a:xfrm flipH="false" flipV="false" rot="0">
              <a:off x="0" y="0"/>
              <a:ext cx="744704" cy="378914"/>
            </a:xfrm>
            <a:custGeom>
              <a:avLst/>
              <a:gdLst/>
              <a:ahLst/>
              <a:cxnLst/>
              <a:rect r="r" b="b" t="t" l="l"/>
              <a:pathLst>
                <a:path h="378914" w="744704">
                  <a:moveTo>
                    <a:pt x="0" y="0"/>
                  </a:moveTo>
                  <a:lnTo>
                    <a:pt x="744704" y="0"/>
                  </a:lnTo>
                  <a:lnTo>
                    <a:pt x="744704" y="378914"/>
                  </a:lnTo>
                  <a:lnTo>
                    <a:pt x="0" y="378914"/>
                  </a:lnTo>
                  <a:close/>
                </a:path>
              </a:pathLst>
            </a:custGeom>
            <a:blipFill>
              <a:blip r:embed="rId3">
                <a:alphaModFix amt="0"/>
              </a:blip>
              <a:stretch>
                <a:fillRect l="-15282" t="0" r="-15282" b="0"/>
              </a:stretch>
            </a:blipFill>
          </p:spPr>
        </p:sp>
        <p:sp>
          <p:nvSpPr>
            <p:cNvPr name="TextBox 41" id="41"/>
            <p:cNvSpPr txBox="true"/>
            <p:nvPr/>
          </p:nvSpPr>
          <p:spPr>
            <a:xfrm>
              <a:off x="0" y="-47625"/>
              <a:ext cx="744703" cy="426542"/>
            </a:xfrm>
            <a:prstGeom prst="rect">
              <a:avLst/>
            </a:prstGeom>
          </p:spPr>
          <p:txBody>
            <a:bodyPr anchor="ctr" rtlCol="false" tIns="0" lIns="0" bIns="0" rIns="0"/>
            <a:lstStyle/>
            <a:p>
              <a:pPr algn="l">
                <a:lnSpc>
                  <a:spcPts val="2231"/>
                </a:lnSpc>
              </a:pPr>
              <a:r>
                <a:rPr lang="en-US" sz="1576" spc="126">
                  <a:solidFill>
                    <a:srgbClr val="9D9D9D"/>
                  </a:solidFill>
                  <a:latin typeface="Arimo"/>
                  <a:ea typeface="Arimo"/>
                  <a:cs typeface="Arimo"/>
                  <a:sym typeface="Arimo"/>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505"/>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3"/>
              <a:stretch>
                <a:fillRect l="-1" t="0" r="-1" b="0"/>
              </a:stretch>
            </a:blipFill>
          </p:spPr>
        </p:sp>
      </p:grpSp>
      <p:grpSp>
        <p:nvGrpSpPr>
          <p:cNvPr name="Group 4" id="4"/>
          <p:cNvGrpSpPr/>
          <p:nvPr/>
        </p:nvGrpSpPr>
        <p:grpSpPr>
          <a:xfrm rot="0">
            <a:off x="0" y="0"/>
            <a:ext cx="18301840" cy="10295039"/>
            <a:chOff x="0" y="0"/>
            <a:chExt cx="24402453" cy="13726719"/>
          </a:xfrm>
        </p:grpSpPr>
        <p:sp>
          <p:nvSpPr>
            <p:cNvPr name="Freeform 5" id="5" descr="preencoded.png"/>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lnTo>
                    <a:pt x="0" y="0"/>
                  </a:lnTo>
                  <a:close/>
                </a:path>
              </a:pathLst>
            </a:custGeom>
            <a:blipFill>
              <a:blip r:embed="rId4"/>
              <a:stretch>
                <a:fillRect l="-1" t="0" r="-1" b="0"/>
              </a:stretch>
            </a:blip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5"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6"/>
              <a:stretch>
                <a:fillRect l="0" t="0" r="2" b="-4"/>
              </a:stretch>
            </a:blipFill>
          </p:spPr>
        </p:sp>
      </p:grpSp>
      <p:sp>
        <p:nvSpPr>
          <p:cNvPr name="TextBox 8" id="8"/>
          <p:cNvSpPr txBox="true"/>
          <p:nvPr/>
        </p:nvSpPr>
        <p:spPr>
          <a:xfrm rot="0">
            <a:off x="915095" y="880348"/>
            <a:ext cx="9760982" cy="310667"/>
          </a:xfrm>
          <a:prstGeom prst="rect">
            <a:avLst/>
          </a:prstGeom>
        </p:spPr>
        <p:txBody>
          <a:bodyPr anchor="t" rtlCol="false" tIns="0" lIns="0" bIns="0" rIns="0">
            <a:spAutoFit/>
          </a:bodyPr>
          <a:lstStyle/>
          <a:p>
            <a:pPr algn="l">
              <a:lnSpc>
                <a:spcPts val="2140"/>
              </a:lnSpc>
            </a:pPr>
            <a:r>
              <a:rPr lang="en-US" sz="1651" spc="139">
                <a:solidFill>
                  <a:srgbClr val="FFFFFF"/>
                </a:solidFill>
                <a:latin typeface="Arimo"/>
                <a:ea typeface="Arimo"/>
                <a:cs typeface="Arimo"/>
                <a:sym typeface="Arimo"/>
              </a:rPr>
              <a:t>FOUNDATION</a:t>
            </a:r>
          </a:p>
        </p:txBody>
      </p:sp>
      <p:sp>
        <p:nvSpPr>
          <p:cNvPr name="TextBox 9" id="9"/>
          <p:cNvSpPr txBox="true"/>
          <p:nvPr/>
        </p:nvSpPr>
        <p:spPr>
          <a:xfrm rot="0">
            <a:off x="915095" y="1444619"/>
            <a:ext cx="9227182" cy="4411494"/>
          </a:xfrm>
          <a:prstGeom prst="rect">
            <a:avLst/>
          </a:prstGeom>
        </p:spPr>
        <p:txBody>
          <a:bodyPr anchor="t" rtlCol="false" tIns="0" lIns="0" bIns="0" rIns="0">
            <a:spAutoFit/>
          </a:bodyPr>
          <a:lstStyle/>
          <a:p>
            <a:pPr algn="l">
              <a:lnSpc>
                <a:spcPts val="7054"/>
              </a:lnSpc>
            </a:pPr>
            <a:r>
              <a:rPr lang="en-US" sz="6605" spc="-79">
                <a:solidFill>
                  <a:srgbClr val="FFFFFF"/>
                </a:solidFill>
                <a:latin typeface="Exo 2"/>
                <a:ea typeface="Exo 2"/>
                <a:cs typeface="Exo 2"/>
                <a:sym typeface="Exo 2"/>
              </a:rPr>
              <a:t>Student Query Manager  establishes a foundation for grounded academic assistance</a:t>
            </a:r>
          </a:p>
        </p:txBody>
      </p:sp>
      <p:sp>
        <p:nvSpPr>
          <p:cNvPr name="TextBox 10" id="10"/>
          <p:cNvSpPr txBox="true"/>
          <p:nvPr/>
        </p:nvSpPr>
        <p:spPr>
          <a:xfrm rot="0">
            <a:off x="915095" y="8671389"/>
            <a:ext cx="9760982" cy="316344"/>
          </a:xfrm>
          <a:prstGeom prst="rect">
            <a:avLst/>
          </a:prstGeom>
        </p:spPr>
        <p:txBody>
          <a:bodyPr anchor="t" rtlCol="false" tIns="0" lIns="0" bIns="0" rIns="0">
            <a:spAutoFit/>
          </a:bodyPr>
          <a:lstStyle/>
          <a:p>
            <a:pPr algn="l">
              <a:lnSpc>
                <a:spcPts val="2334"/>
              </a:lnSpc>
            </a:pPr>
            <a:r>
              <a:rPr lang="en-US" sz="1801" spc="288">
                <a:solidFill>
                  <a:srgbClr val="FFFFFF"/>
                </a:solidFill>
                <a:latin typeface="Michroma"/>
                <a:ea typeface="Michroma"/>
                <a:cs typeface="Michroma"/>
                <a:sym typeface="Michroma"/>
              </a:rPr>
              <a:t>THANK YOU</a:t>
            </a:r>
          </a:p>
        </p:txBody>
      </p:sp>
      <p:grpSp>
        <p:nvGrpSpPr>
          <p:cNvPr name="Group 11" id="11"/>
          <p:cNvGrpSpPr/>
          <p:nvPr/>
        </p:nvGrpSpPr>
        <p:grpSpPr>
          <a:xfrm rot="0">
            <a:off x="10676077" y="0"/>
            <a:ext cx="7625763" cy="10295039"/>
            <a:chOff x="0" y="0"/>
            <a:chExt cx="10167684" cy="13726719"/>
          </a:xfrm>
        </p:grpSpPr>
        <p:sp>
          <p:nvSpPr>
            <p:cNvPr name="Freeform 12" id="12"/>
            <p:cNvSpPr/>
            <p:nvPr/>
          </p:nvSpPr>
          <p:spPr>
            <a:xfrm flipH="false" flipV="false" rot="0">
              <a:off x="0" y="0"/>
              <a:ext cx="10167747" cy="13726668"/>
            </a:xfrm>
            <a:custGeom>
              <a:avLst/>
              <a:gdLst/>
              <a:ahLst/>
              <a:cxnLst/>
              <a:rect r="r" b="b" t="t" l="l"/>
              <a:pathLst>
                <a:path h="13726668" w="10167747">
                  <a:moveTo>
                    <a:pt x="0" y="0"/>
                  </a:moveTo>
                  <a:lnTo>
                    <a:pt x="10167747" y="0"/>
                  </a:lnTo>
                  <a:lnTo>
                    <a:pt x="10167747" y="13726668"/>
                  </a:lnTo>
                  <a:lnTo>
                    <a:pt x="0" y="13726668"/>
                  </a:lnTo>
                  <a:close/>
                </a:path>
              </a:pathLst>
            </a:custGeom>
            <a:solidFill>
              <a:srgbClr val="241B55"/>
            </a:solidFill>
          </p:spPr>
        </p:sp>
      </p:grpSp>
      <p:sp>
        <p:nvSpPr>
          <p:cNvPr name="TextBox 13" id="13"/>
          <p:cNvSpPr txBox="true"/>
          <p:nvPr/>
        </p:nvSpPr>
        <p:spPr>
          <a:xfrm rot="0">
            <a:off x="11209877" y="867489"/>
            <a:ext cx="6176867" cy="5175485"/>
          </a:xfrm>
          <a:prstGeom prst="rect">
            <a:avLst/>
          </a:prstGeom>
        </p:spPr>
        <p:txBody>
          <a:bodyPr anchor="t" rtlCol="false" tIns="0" lIns="0" bIns="0" rIns="0">
            <a:spAutoFit/>
          </a:bodyPr>
          <a:lstStyle/>
          <a:p>
            <a:pPr algn="l">
              <a:lnSpc>
                <a:spcPts val="3188"/>
              </a:lnSpc>
            </a:pPr>
            <a:r>
              <a:rPr lang="en-US" sz="2251">
                <a:solidFill>
                  <a:srgbClr val="FFFFFF"/>
                </a:solidFill>
                <a:latin typeface="Exo 2"/>
                <a:ea typeface="Exo 2"/>
                <a:cs typeface="Exo 2"/>
                <a:sym typeface="Exo 2"/>
              </a:rPr>
              <a:t>Combines academic query management with document-based AI assistance</a:t>
            </a:r>
          </a:p>
          <a:p>
            <a:pPr algn="l">
              <a:lnSpc>
                <a:spcPts val="3188"/>
              </a:lnSpc>
            </a:pPr>
            <a:r>
              <a:rPr lang="en-US" sz="2251">
                <a:solidFill>
                  <a:srgbClr val="FFFFFF"/>
                </a:solidFill>
                <a:latin typeface="Exo 2"/>
                <a:ea typeface="Exo 2"/>
                <a:cs typeface="Exo 2"/>
                <a:sym typeface="Exo 2"/>
              </a:rPr>
              <a:t>Role-based access supports student, faculty, and administrator workflows</a:t>
            </a:r>
          </a:p>
          <a:p>
            <a:pPr algn="l">
              <a:lnSpc>
                <a:spcPts val="3188"/>
              </a:lnSpc>
            </a:pPr>
            <a:r>
              <a:rPr lang="en-US" sz="2251">
                <a:solidFill>
                  <a:srgbClr val="FFFFFF"/>
                </a:solidFill>
                <a:latin typeface="Exo 2"/>
                <a:ea typeface="Exo 2"/>
                <a:cs typeface="Exo 2"/>
                <a:sym typeface="Exo 2"/>
              </a:rPr>
              <a:t>RAG combines semantic retrieval with Gemini-based answer generation</a:t>
            </a:r>
          </a:p>
          <a:p>
            <a:pPr algn="l">
              <a:lnSpc>
                <a:spcPts val="3188"/>
              </a:lnSpc>
            </a:pPr>
            <a:r>
              <a:rPr lang="en-US" sz="2251">
                <a:solidFill>
                  <a:srgbClr val="FFFFFF"/>
                </a:solidFill>
                <a:latin typeface="Exo 2"/>
                <a:ea typeface="Exo 2"/>
                <a:cs typeface="Exo 2"/>
                <a:sym typeface="Exo 2"/>
              </a:rPr>
              <a:t>Source metadata helps users identify relevant uploaded documents</a:t>
            </a:r>
          </a:p>
          <a:p>
            <a:pPr algn="l">
              <a:lnSpc>
                <a:spcPts val="3188"/>
              </a:lnSpc>
            </a:pPr>
            <a:r>
              <a:rPr lang="en-US" sz="2251">
                <a:solidFill>
                  <a:srgbClr val="FFFFFF"/>
                </a:solidFill>
                <a:latin typeface="Exo 2"/>
                <a:ea typeface="Exo 2"/>
                <a:cs typeface="Exo 2"/>
                <a:sym typeface="Exo 2"/>
              </a:rPr>
              <a:t>Next priorities: persistence, evaluation, and deployment readiness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DAHYkgLYazY</dc:identifier>
  <dcterms:modified xsi:type="dcterms:W3CDTF">2011-08-01T06:04:30Z</dcterms:modified>
  <cp:revision>1</cp:revision>
  <dc:title>Student-Query-Manager-V2.pptx</dc:title>
</cp:coreProperties>
</file>